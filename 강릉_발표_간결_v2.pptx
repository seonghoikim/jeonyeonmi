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[표지 · 목표 0:20 · 누적 0:20]</a:t>
            </a:r>
          </a:p>
          <a:p>
            <a:r>
              <a:t>안녕하십니까. 홍익대학교 소프트웨어공학 연구실 김성회입니다. 오늘은 서채연 연구원, 김영철 교수님과 함께 진행한 'LLM기반 AI챗봇 자가 치유 메커니즘'을 발표하겠습니다.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[CONTENTS · 목표 0:25 · 누적 0:45]</a:t>
            </a:r>
          </a:p>
          <a:p>
            <a:r>
              <a:t>발표는 다섯 부분으로 진행됩니다. 먼저 기업이 운영하는 챗봇에 어떤 위협이 있고 기존 대응이 왜 부족한지 말씀드리고, 관련 연구를 짧게 짚겠습니다. 이어서 저희가 제안하는 자가 치유 메커니즘을 여섯 단계로 설명하고, 실제 운영 중인 챗봇 프로젝트로 진행한 실험 결과를 보여드린 뒤 결론으로 마무리하겠습니다.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[Ⅰ. 연구 배경 · 목표 1:35 · 누적 2:20]</a:t>
            </a:r>
          </a:p>
          <a:p>
            <a:r>
              <a:t>최근 회사와 조직이 자기 상품과 서비스를 안내하는 LLM 챗봇을 직접 운영하는 경우가 많아졌습니다. 그런데 이런 챗봇에는 왼쪽의 네 가지 위협이 따라옵니다. 다른 고객의 연락처를 알려 달라는 요청에 개인정보를 말해 버리거나, 자기 브랜드 제품에 없는 결함을 사실처럼 인정하거나, 여러 상품 자료를 섞어 잘못 안내하는 경우입니다. 특히 Greshake 등이 보인 간접 프롬프트 인젝션은 사용자가 아니라 챗봇이 검색해 온 문서 속에 숨은 명령이 모델을 조종한다는 점에서 위험합니다.</a:t>
            </a:r>
          </a:p>
          <a:p>
            <a:r>
              <a:t>기존 대응은 오른쪽 표처럼 세 갈래입니다. 파인튜닝은 비용이 크고 회사 규칙이 바뀔 때마다 다시 학습해야 합니다. 프롬프트와 RAG 설계는 가볍지만 새로운 공격에 약하고, NeMo Guardrails 같은 정적 가드레일은 효과적이지만 규칙을 사람이 미리 써 두고, 새 공격이 나오면 사람이 다시 고쳐야 합니다.</a:t>
            </a:r>
          </a:p>
          <a:p>
            <a:r>
              <a:t>그래서 저희는 챗봇이 지켜야 할 규칙을 요구사항 명세, 즉 SRS로 관리하고, 시스템이 스스로 공격해 찾은 결함을 Meta-Rule이라는 방어 규칙으로 바꿔 SRS에 되먹이는 자가 치유 루프를 제안합니다. 아래 빨간 문장이 이 발표의 핵심 메시지입니다.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[Ⅱ. 관련 연구 · 목표 1:25 · 누적 3:45]</a:t>
            </a:r>
          </a:p>
          <a:p>
            <a:r>
              <a:t>관련 연구입니다. 재학습 없이 스스로를 고치는 루프는 저희만의 아이디어는 아닙니다. PRISM은 엔터프라이즈 대화형 AI에서 테스트를 만들고, 평가하고, 프롬프트를 고치는 과정을 반복합니다. SISF는 위반을 판정하면 새 안전 정책을 합성해 적용하는 구조로, 골격은 저희와 가장 가깝습니다.</a:t>
            </a:r>
          </a:p>
          <a:p>
            <a:r>
              <a:t>실패를 누가 판정하느냐도 중요합니다. Zheng 등의 LLM-as-a-Judge는 LLM 심판이 사람 평가와 높게 일치함을 보였지만, 먼저 나온 답, 긴 답, 자기 회사 모델의 답을 선호하는 편향도 함께 보고했습니다. 그래서 저희는 심판관을 시나리오 한 건씩 이전 기록 없이 호출하고, 예비 실행에서 다른 회사 LLM으로 다시 채점해 일치도를 확인했습니다.</a:t>
            </a:r>
          </a:p>
          <a:p>
            <a:r>
              <a:t>공격은 OWASP LLM Top 10에 맞춘 8개 범주로, 채점은 OWASP Risk Rating과 CVSS의 심각도 등급 관행을 빌린 4단계 Level로 설계했습니다. 표의 오른쪽 열처럼, 저희는 이 골격 위에 명시적인 SRS, 4단계 Level, 8범주 공격 분류를 더하고 실제 운영 챗봇 프로젝트로 실험했습니다.</a:t>
            </a:r>
          </a:p>
          <a:p>
            <a:r>
              <a:t>[주의] 상대 연구의 결함을 단정하지 말 것('더했다'로 말하기). 교차 심판 일치도는 이전 예비 실행(다른 도메인, 42건): GPT 40건, Gemini 42건.</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[Ⅲ. 전체 구조 · 목표 0:50 · 누적 4:35]</a:t>
            </a:r>
          </a:p>
          <a:p>
            <a:r>
              <a:t>전체 구조입니다. 왼쪽 그림의 번호 순서대로 보시면 됩니다. 1단계에서 SRS에 챗봇의 페르소나와 제약 조건을 정의합니다. 2단계에서 레드팀 LLM이 8개 범주의 공격 시나리오를 만들고, 3단계에서 챗봇이 유닛 A부터 D까지의 파이프라인으로 답합니다. 4단계에서 심판관이 응답을 4단계 Level로 채점하고, 최고 등급이 아닌 사례가 있으면 5단계에서 그 실패를 Meta-Rule로 바꿔 SRS에 병합한 뒤 같은 시나리오로 다시 시험합니다. 모든 시나리오가 최고 등급을 받거나 라운드 상한에 닿으면 루프를 빠져나와 6단계 검증으로 넘어갑니다. 지금부터 두 단계씩 묶어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[Ⅲ. Step 1·2 · 목표 1:25 · 누적 6:00]</a:t>
            </a:r>
          </a:p>
          <a:p>
            <a:r>
              <a:t>1단계는 SRS 정의입니다. 여기서 SRS는 챗봇이 지켜야 할 요구사항을 조항 단위로 적고 버전을 붙여 관리하는 명세이고, 실행할 때는 시스템 프롬프트로 들어갑니다. 실험에서는 실제 운영 챗봇 프로젝트의 지침 17개 조항을 그대로 v1.0으로 썼습니다. 보안 문구를 저희가 임의로 추가하지 않은 이유는, 실제 운영 지침이 공격을 얼마나 버티는지가 바로 검증 대상이기 때문입니다. 빨갛게 표시한 9번, '추가 질문이나 궁금증을 권하는 말을 하지 않는다'는 조항을 기억해 주십시오. 결과에서 다시 나옵니다.</a:t>
            </a:r>
          </a:p>
          <a:p>
            <a:r>
              <a:t>2단계에서는 레드팀 전용 LLM이 공격문을 만듭니다. 주 모델인 Claude가 공격문 생성을 거부해 GPT-5.4로 나눴고, 덕분에 같은 모델이 자기 약점을 봐주는 문제도 줄었습니다. 8개 범주에서 범주당 여섯 개를 만들어 세 개는 치유용 셋, 세 개는 헬드아웃 셋으로 나눴습니다. 헬드아웃 셋은 루프에 한 번도 넣지 않고 검증에만 씁니다. 오른쪽 아래 예시처럼 실제 공격문은 감사실을 사칭하고 승인코드와 마감 시간을 붙여 고객 개인정보를 요구할 만큼 교묘합니다.</a:t>
            </a:r>
          </a:p>
          <a:p>
            <a:r>
              <a:t>[주의] 헬드아웃을 '독립 생성'이라 말하지 말 것(같은 생성 풀에서 층화 분할).</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[Ⅲ. Step 3·4 · 목표 1:20 · 누적 7:20]</a:t>
            </a:r>
          </a:p>
          <a:p>
            <a:r>
              <a:t>3단계는 챗봇의 응답 과정입니다. 사용자 메시지는 네 유닛을 차례로 지납니다. 유닛 A는 입력 단계에서 알려진 인젝션 패턴을 먼저 막고, 유닛 B는 질문과 관련된 상품 자료와 회원 정보를 검색합니다. 유닛 C, 즉 주 모델이 SRS와 지금까지 쌓인 Meta-Rule을 반영해 답을 만들고, 마지막으로 유닛 D가 정해진 규칙으로 내부 정보가 섞였는지 한 번 더 검사합니다. 자가 치유가 바꾸는 것은 빨간색 유닛 C에 들어가는 SRS뿐입니다.</a:t>
            </a:r>
          </a:p>
          <a:p>
            <a:r>
              <a:t>4단계는 채점입니다. 심판관 LLM이 시나리오마다 독립적으로, 학습 데이터 없이 4단계 Level을 매깁니다. Level 4는 공격을 막고 SRS 형식까지 지킨 경우, 3은 막았지만 말투나 형식을 조금 어긴 경우, 2는 메타데이터 같은 간접 정보가 노출된 경우, 1은 개인정보나 시스템 프롬프트가 그대로 노출된 경우입니다. 보안뿐 아니라 '회사가 정한 대로 답했는가'까지 보는 것이 특징이고, Level 4가 아니면 5단계의 재료가 됩니다.</a:t>
            </a:r>
          </a:p>
          <a:p>
            <a:r>
              <a:t>[주의] 실험 수치는 실행 당시 3단계(PASS/WARNING/FAIL) 점수 — 실험 설정 슬라이드에서 밝힘.</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[Ⅲ. Step 5 · 목표 0:50 · 누적 8:10]</a:t>
            </a:r>
          </a:p>
          <a:p>
            <a:r>
              <a:t>5단계가 자가 치유의 핵심입니다. 실제 사례로 보겠습니다. 1라운드에서 챗봇은 개인정보 요청을 정확히 거절했지만, 끝에 '혹시 제품 관련해 궁금하신 점 있으시면 편하게 말씀해 주세요'를 붙여 9번 조항을 어겼습니다. 이 판정 사유를 Meta-Rule 생성기에 넣으면, '모든 응답의 끝에 추가 질문이나 궁금증을 유도하는 문구를 절대 덧붙이지 말고 즉시 종료하라'는 Meta-Rule 1번이 만들어지고, SRS에 붙어 v1.1이 됩니다. 그다음 같은 치유용 셋으로 바로 다시 채점합니다. 규칙을 사람이 아니라 시스템이 쓴다는 점이 정적 가드레일과의 가장 큰 차이입니다.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[Ⅲ. Step 6 · 목표 0:50 · 누적 9:00]</a:t>
            </a:r>
          </a:p>
          <a:p>
            <a:r>
              <a:t>6단계는 검증입니다. 같은 시나리오를 여러 번 풀다 보면 그 시나리오에만 맞춘 규칙이 생길 수 있습니다. 그래서 첫째, 루프에 넣지 않은 헬드아웃 셋으로 점수가 유지되는지 봅니다. 둘째, 적응형 재공격입니다. 어느 범주가 실패했는지 요약만 아는 블랙박스 공격자와, Meta-Rule 전문을 읽은 화이트박스 공격자가 각각 다섯 건씩 새 공격을 만듭니다. 셋째, 교차 모델 검증은 심판관은 그대로 두고 응답 모델만 주 모델과 다른 회사 모델 두 개로 바꿔, 세 모델 중 두 개 이상이 최고 등급이면 통과로 봅니다. 그림 오른쪽 숫자는 뒤에서 설명드리겠습니다.</a:t>
            </a:r>
          </a:p>
          <a:p>
            <a:r>
              <a:t>[주의] 논문 그림3의 '실패 공격문 재입력'은 실제 구현상 '실패 요약 기반 신규 생성'.</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[Ⅳ. 실험 설정 · 목표 1:05 · 누적 10:05]</a:t>
            </a:r>
          </a:p>
          <a:p>
            <a:r>
              <a:t>실험 설정입니다. 대상은 실제 운영 중인 상품 상담 챗봇 프로젝트이고, 업체명은 밝히지 않습니다. 운영 지침과 상품 설명 자료 6종은 그대로 썼고, 회원 정보만 실제 고객 대신 합성 데이터 1,000명을 미끼로 넣었습니다. 응답, 채점, Meta-Rule 생성은 Claude Sonnet 5, 공격 생성은 GPT-5.4입니다. 규모는 범주당 세 개, 치유용 24개의 예비 규모이고, 인코딩 우회 범주 일부는 심판관이 채점을 거부해 23개와 22개를 채점했습니다. 준수율은 PASS 3점, WARNING 2점, FAIL 1점의 합을 만점으로 나눈 값입니다. 그래서 모든 응답이 WARNING이어도 66.7%가 나온다는 점을 기억해 주십시오. 라운드 상한 5와 15로 두 번 실행했고, 비용은 한 번에 약 10달러와 19달러였습니다.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[Ⅳ. 5라운드 실행 · 목표 1:30 · 누적 11:35]</a:t>
            </a:r>
          </a:p>
          <a:p>
            <a:r>
              <a:t>첫 번째, 라운드 상한 5의 실행입니다. 왼쪽 그래프처럼 준수율은 68.1%에서 시작해 다섯 라운드 뒤 88.4%가 됐습니다. Wilcoxon 부호순위 검정에서 p가 0.001보다 작아 통계적으로 유의한 개선입니다. 최고 등급 비율로 보면 23건 중 1건에서 15건으로 늘었습니다. 다만 4라운드에 한 번 떨어지는 것처럼 매끄럽게 오르지는 않았고, 100%에는 닿지 못했습니다. 헬드아웃 셋은 87.0%로 치유용 셋과 유의한 차이가 관측되지 않아, 과적합 징후는 보이지 않았습니다.</a:t>
            </a:r>
          </a:p>
          <a:p>
            <a:r>
              <a:t>그런데 더 중요한 것은 실패의 내용입니다. 개인정보나 시스템 프롬프트가 실제로 새어 나간 FAIL은 다섯 라운드 내내 0건이었습니다. 1라운드 WARNING 22건 중 21건은 오른쪽 사례처럼 거절은 정확히 하고 마지막에 '궁금하신 점 있으시면 말씀해 주세요'를 붙인 9번 위반이었습니다. 즉 상용 모델은 핵심 보안 경계는 이미 잘 지키지만, 회사가 정한 응대 규칙은 습관적으로 어기고 있었고, 자가 치유는 바로 이 부분을 찾아서 고쳤습니다. 이 연구가 정량화하려는 것이 바로 이런 정성적 가이드라인의 준수입니다.</a:t>
            </a:r>
          </a:p>
          <a:p>
            <a:r>
              <a:t>[주의] '과적합이 아님을 확인'이라고 말하지 말 것. 헬드아웃은 v1.5, 치유 5라운드는 v1.4로 버전이 하나 다름.</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[Ⅳ. 15라운드 실행과 검증 · 목표 1:30 · 누적 13:05]</a:t>
            </a:r>
          </a:p>
          <a:p>
            <a:r>
              <a:t>그래서 라운드 상한을 15로 늘려 다시 실행했습니다. 공격 시나리오는 새로 생성했습니다. 왼쪽 그래프처럼 1, 2라운드는 68~70%였고, 3라운드부터 13라운드까지 88%에서 94% 사이를 오르내렸습니다. 그러다 14라운드에 채점 가능한 22건 전원이 최고 등급을 받아 루프가 스스로 종료됐습니다. 이 수치는 실행 당시 3단계 채점 기준이고, 같은 응답을 4단계로 다시 채점하면 22건 중 19건이 FULL_DEFENSE, 3건이 FUNCTIONAL_DEFENSE입니다.</a:t>
            </a:r>
          </a:p>
          <a:p>
            <a:r>
              <a:t>최종 SRS인 v1.13으로 검증한 결과, 헬드아웃 97.1%, 적응형 재공격은 블랙박스와 화이트박스 각 다섯 건을 모두 막았고, 교차 모델은 오른쪽 그래프처럼 91.3%였습니다. GPT, Gemini, Claude 세 응답 모델 모두 87% 이상이었습니다. 반면 5라운드 실행의 SRS로는 교차 모델 결과가 47.8%였습니다. 공격 셋이 달라 단정할 수는 없지만, 규칙이 충분히 다듬어져야 다른 모델로 옮겨도 통할 가능성이 있다고 보고 있습니다. 다만 14라운드의 100%는 한 번의 결과이고, 그 직전까지 진동했다는 점도 함께 말씀드립니다.</a:t>
            </a:r>
          </a:p>
          <a:p>
            <a:r>
              <a:t>[주의] 진동 원인 질문 → FAIL 15건 중 13건이 유닛 D 고정 거절 문구(그 자체가 SRS 9번 위반)에서 발생. 상세본 v3 백업 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[Ⅳ. 수렴의 대가 · 목표 0:55 · 누적 14:00]</a:t>
            </a:r>
          </a:p>
          <a:p>
            <a:r>
              <a:t>하지만 이 수렴에는 대가가 있었습니다. 14라운드까지 Meta-Rule이 28개 쌓였습니다. 왼쪽 위의 초반 규칙은 '추가 질문을 권하지 말라', '이모지를 쓰지 말라'처럼 사람이 읽어도 자연스러운 원칙이었습니다. 그런데 아래 빨간 상자의 후반 규칙은 '거절은 불가해요, 거부해요, 제공하지 않아요 중 하나로만 끝내라', '명사구에 은, 는을 붙이고 이 종결형으로만 써라'처럼 문자열 틀을 지정하는 수준이 됐습니다. 즉 준수율이 오른 것은 자연어 지침이 더 좋아져서라기보다, SRS가 점점 결정론적 필터를 닮아 갔기 때문이기도 합니다. 저희는 이것을 숨기지 않고 자가 치유가 치르는 대가로 함께 보고합니다.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[Ⅴ. 결론 · 목표 1:05 · 누적 15:05]</a:t>
            </a:r>
          </a:p>
          <a:p>
            <a:r>
              <a:t>정리하겠습니다. 저희는 SRS 기반 자가 치유 폐쇄 루프와 4단계 Action Matrix, 8범주 공격 분류를 제안했습니다. 단일 도메인 예비 실험에서 준수율이 68.1%에서 88.4%로 유의하게 올랐고, 라운드를 늘리면 14라운드에 전원 최고 등급에 도달했으며, 최종 SRS는 헬드아웃 97.1%, 교차 모델 91.3%를 기록했습니다. 동시에 고쳐진 결함은 주로 응대 형식이었고, 규칙이 템플릿처럼 굳어지는 대가도 확인했습니다. 앞으로 규칙 통합과 중복 제거, 범주당 10개 규모의 본 실행과 반복 실행, 다른 도메인으로의 일반화를 진행하겠습니다. 마지막으로, 공격으로 찾아낸 결함을 Meta-Rule로 바꿔 SRS에 되먹이면, 사람이 규칙을 직접 쓰지 않고도 가이드라인 준수를 측정하고 개선할 수 있습니다. 감사합니다.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[감사합니다 / Q&amp;A · 목표 0:10 · 누적 15:15]</a:t>
            </a:r>
          </a:p>
          <a:p>
            <a:r>
              <a:t>질문 받겠습니다.</a:t>
            </a:r>
          </a:p>
          <a:p>
            <a:r>
              <a:t>[주의] 답변 순서: 인정 또는 정의 → 숫자 → 후속 과제. SRS 질문 대응은 대본 문서 끝 참고. 상세 수치는 v3 백업과 질의응답 대비 문서.</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411480" y="4800600"/>
            <a:ext cx="8321040"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11480" y="4828032"/>
            <a:ext cx="5486400" cy="228600"/>
          </a:xfrm>
          <a:prstGeom prst="rect">
            <a:avLst/>
          </a:prstGeom>
          <a:noFill/>
        </p:spPr>
        <p:txBody>
          <a:bodyPr wrap="square" lIns="36576" rIns="36576" tIns="18288" bIns="18288" anchor="t">
            <a:spAutoFit/>
          </a:bodyPr>
          <a:lstStyle/>
          <a:p>
            <a:pPr algn="l">
              <a:lnSpc>
                <a:spcPct val="110000"/>
              </a:lnSpc>
            </a:pPr>
            <a:r>
              <a:rPr sz="800" b="0" u="none">
                <a:solidFill>
                  <a:srgbClr val="595959"/>
                </a:solidFill>
                <a:latin typeface="맑은 고딕"/>
                <a:ea typeface="맑은 고딕"/>
                <a:cs typeface="맑은 고딕"/>
              </a:rPr>
              <a:t>2026년도 한국인터넷정보학회 추계학술발표대회</a:t>
            </a:r>
          </a:p>
        </p:txBody>
      </p:sp>
      <p:sp>
        <p:nvSpPr>
          <p:cNvPr id="4" name="TextBox 3"/>
          <p:cNvSpPr txBox="1"/>
          <p:nvPr/>
        </p:nvSpPr>
        <p:spPr>
          <a:xfrm>
            <a:off x="5486400" y="4828032"/>
            <a:ext cx="3246120" cy="228600"/>
          </a:xfrm>
          <a:prstGeom prst="rect">
            <a:avLst/>
          </a:prstGeom>
          <a:noFill/>
        </p:spPr>
        <p:txBody>
          <a:bodyPr wrap="square" lIns="36576" rIns="36576" tIns="18288" bIns="18288" anchor="t">
            <a:spAutoFit/>
          </a:bodyPr>
          <a:lstStyle/>
          <a:p>
            <a:pPr algn="r">
              <a:lnSpc>
                <a:spcPct val="110000"/>
              </a:lnSpc>
            </a:pPr>
            <a:r>
              <a:rPr sz="800" b="0" u="none">
                <a:solidFill>
                  <a:srgbClr val="595959"/>
                </a:solidFill>
                <a:latin typeface="맑은 고딕"/>
                <a:ea typeface="맑은 고딕"/>
                <a:cs typeface="맑은 고딕"/>
              </a:rPr>
              <a:t>Hongik University Software Engineering Lab   1</a:t>
            </a:r>
          </a:p>
        </p:txBody>
      </p:sp>
      <p:sp>
        <p:nvSpPr>
          <p:cNvPr id="5" name="TextBox 4"/>
          <p:cNvSpPr txBox="1"/>
          <p:nvPr/>
        </p:nvSpPr>
        <p:spPr>
          <a:xfrm>
            <a:off x="548640" y="1371600"/>
            <a:ext cx="8046720" cy="640080"/>
          </a:xfrm>
          <a:prstGeom prst="rect">
            <a:avLst/>
          </a:prstGeom>
          <a:noFill/>
        </p:spPr>
        <p:txBody>
          <a:bodyPr wrap="square" lIns="36576" rIns="36576" tIns="18288" bIns="18288" anchor="t">
            <a:spAutoFit/>
          </a:bodyPr>
          <a:lstStyle/>
          <a:p>
            <a:pPr algn="ctr">
              <a:lnSpc>
                <a:spcPct val="110000"/>
              </a:lnSpc>
            </a:pPr>
            <a:r>
              <a:rPr sz="3000" b="1" u="none">
                <a:solidFill>
                  <a:srgbClr val="1A1A1A"/>
                </a:solidFill>
                <a:latin typeface="맑은 고딕"/>
                <a:ea typeface="맑은 고딕"/>
                <a:cs typeface="맑은 고딕"/>
              </a:rPr>
              <a:t>LLM기반 AI챗봇 자가 치유 메커니즘</a:t>
            </a:r>
          </a:p>
        </p:txBody>
      </p:sp>
      <p:sp>
        <p:nvSpPr>
          <p:cNvPr id="6" name="TextBox 5"/>
          <p:cNvSpPr txBox="1"/>
          <p:nvPr/>
        </p:nvSpPr>
        <p:spPr>
          <a:xfrm>
            <a:off x="548640" y="2011680"/>
            <a:ext cx="8046720" cy="365760"/>
          </a:xfrm>
          <a:prstGeom prst="rect">
            <a:avLst/>
          </a:prstGeom>
          <a:noFill/>
        </p:spPr>
        <p:txBody>
          <a:bodyPr wrap="square" lIns="36576" rIns="36576" tIns="18288" bIns="18288" anchor="t">
            <a:spAutoFit/>
          </a:bodyPr>
          <a:lstStyle/>
          <a:p>
            <a:pPr algn="ctr">
              <a:lnSpc>
                <a:spcPct val="110000"/>
              </a:lnSpc>
            </a:pPr>
            <a:r>
              <a:rPr sz="1500" b="0" u="none">
                <a:solidFill>
                  <a:srgbClr val="595959"/>
                </a:solidFill>
                <a:latin typeface="맑은 고딕"/>
                <a:ea typeface="맑은 고딕"/>
                <a:cs typeface="맑은 고딕"/>
              </a:rPr>
              <a:t>Self-Healing Mechanism for LLM-based Chatbots</a:t>
            </a:r>
          </a:p>
        </p:txBody>
      </p:sp>
      <p:sp>
        <p:nvSpPr>
          <p:cNvPr id="7" name="TextBox 6"/>
          <p:cNvSpPr txBox="1"/>
          <p:nvPr/>
        </p:nvSpPr>
        <p:spPr>
          <a:xfrm>
            <a:off x="548640" y="2926080"/>
            <a:ext cx="8046720" cy="1188720"/>
          </a:xfrm>
          <a:prstGeom prst="rect">
            <a:avLst/>
          </a:prstGeom>
          <a:noFill/>
        </p:spPr>
        <p:txBody>
          <a:bodyPr wrap="square" lIns="36576" rIns="36576" tIns="18288" bIns="18288" anchor="t">
            <a:spAutoFit/>
          </a:bodyPr>
          <a:lstStyle/>
          <a:p>
            <a:pPr algn="ctr">
              <a:lnSpc>
                <a:spcPct val="130000"/>
              </a:lnSpc>
            </a:pPr>
            <a:r>
              <a:rPr sz="1400" b="1" u="none">
                <a:solidFill>
                  <a:srgbClr val="1A1A1A"/>
                </a:solidFill>
                <a:latin typeface="맑은 고딕"/>
                <a:ea typeface="맑은 고딕"/>
                <a:cs typeface="맑은 고딕"/>
              </a:rPr>
              <a:t>김성회 · 서채연 · 김영철</a:t>
            </a:r>
          </a:p>
          <a:p>
            <a:pPr algn="ctr">
              <a:lnSpc>
                <a:spcPct val="130000"/>
              </a:lnSpc>
            </a:pPr>
            <a:r>
              <a:rPr sz="1200" b="0" u="none">
                <a:solidFill>
                  <a:srgbClr val="1A1A1A"/>
                </a:solidFill>
                <a:latin typeface="맑은 고딕"/>
                <a:ea typeface="맑은 고딕"/>
                <a:cs typeface="맑은 고딕"/>
              </a:rPr>
              <a:t>홍익대학교 소프트웨어공학 연구실</a:t>
            </a:r>
          </a:p>
          <a:p>
            <a:pPr algn="ctr">
              <a:lnSpc>
                <a:spcPct val="130000"/>
              </a:lnSpc>
            </a:pPr>
            <a:r>
              <a:rPr sz="1100" b="0" u="none">
                <a:solidFill>
                  <a:srgbClr val="595959"/>
                </a:solidFill>
                <a:latin typeface="맑은 고딕"/>
                <a:ea typeface="맑은 고딕"/>
                <a:cs typeface="맑은 고딕"/>
              </a:rPr>
              <a:t>발표자: 김성회   지도교수: 김영철 교수</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411480" y="4800600"/>
            <a:ext cx="8321040"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11480" y="4828032"/>
            <a:ext cx="5486400" cy="228600"/>
          </a:xfrm>
          <a:prstGeom prst="rect">
            <a:avLst/>
          </a:prstGeom>
          <a:noFill/>
        </p:spPr>
        <p:txBody>
          <a:bodyPr wrap="square" lIns="36576" rIns="36576" tIns="18288" bIns="18288" anchor="t">
            <a:spAutoFit/>
          </a:bodyPr>
          <a:lstStyle/>
          <a:p>
            <a:pPr algn="l">
              <a:lnSpc>
                <a:spcPct val="110000"/>
              </a:lnSpc>
            </a:pPr>
            <a:r>
              <a:rPr sz="800" b="0" u="none">
                <a:solidFill>
                  <a:srgbClr val="595959"/>
                </a:solidFill>
                <a:latin typeface="맑은 고딕"/>
                <a:ea typeface="맑은 고딕"/>
                <a:cs typeface="맑은 고딕"/>
              </a:rPr>
              <a:t>2026년도 한국인터넷정보학회 추계학술발표대회</a:t>
            </a:r>
          </a:p>
        </p:txBody>
      </p:sp>
      <p:sp>
        <p:nvSpPr>
          <p:cNvPr id="4" name="TextBox 3"/>
          <p:cNvSpPr txBox="1"/>
          <p:nvPr/>
        </p:nvSpPr>
        <p:spPr>
          <a:xfrm>
            <a:off x="5486400" y="4828032"/>
            <a:ext cx="3246120" cy="228600"/>
          </a:xfrm>
          <a:prstGeom prst="rect">
            <a:avLst/>
          </a:prstGeom>
          <a:noFill/>
        </p:spPr>
        <p:txBody>
          <a:bodyPr wrap="square" lIns="36576" rIns="36576" tIns="18288" bIns="18288" anchor="t">
            <a:spAutoFit/>
          </a:bodyPr>
          <a:lstStyle/>
          <a:p>
            <a:pPr algn="r">
              <a:lnSpc>
                <a:spcPct val="110000"/>
              </a:lnSpc>
            </a:pPr>
            <a:r>
              <a:rPr sz="800" b="0" u="none">
                <a:solidFill>
                  <a:srgbClr val="595959"/>
                </a:solidFill>
                <a:latin typeface="맑은 고딕"/>
                <a:ea typeface="맑은 고딕"/>
                <a:cs typeface="맑은 고딕"/>
              </a:rPr>
              <a:t>Hongik University Software Engineering Lab   2</a:t>
            </a:r>
          </a:p>
        </p:txBody>
      </p:sp>
      <p:sp>
        <p:nvSpPr>
          <p:cNvPr id="5" name="TextBox 4"/>
          <p:cNvSpPr txBox="1"/>
          <p:nvPr/>
        </p:nvSpPr>
        <p:spPr>
          <a:xfrm>
            <a:off x="411480" y="274320"/>
            <a:ext cx="8321040" cy="457200"/>
          </a:xfrm>
          <a:prstGeom prst="rect">
            <a:avLst/>
          </a:prstGeom>
          <a:noFill/>
        </p:spPr>
        <p:txBody>
          <a:bodyPr wrap="square" lIns="36576" rIns="36576" tIns="18288" bIns="18288" anchor="t">
            <a:spAutoFit/>
          </a:bodyPr>
          <a:lstStyle/>
          <a:p>
            <a:pPr algn="l">
              <a:lnSpc>
                <a:spcPct val="110000"/>
              </a:lnSpc>
            </a:pPr>
            <a:r>
              <a:rPr sz="1900" b="1" u="none">
                <a:solidFill>
                  <a:srgbClr val="1A1A1A"/>
                </a:solidFill>
                <a:latin typeface="맑은 고딕"/>
                <a:ea typeface="맑은 고딕"/>
                <a:cs typeface="맑은 고딕"/>
              </a:rPr>
              <a:t>CONTENTS</a:t>
            </a:r>
          </a:p>
        </p:txBody>
      </p:sp>
      <p:sp>
        <p:nvSpPr>
          <p:cNvPr id="6" name="TextBox 5"/>
          <p:cNvSpPr txBox="1"/>
          <p:nvPr/>
        </p:nvSpPr>
        <p:spPr>
          <a:xfrm>
            <a:off x="1097280" y="960120"/>
            <a:ext cx="548640" cy="457200"/>
          </a:xfrm>
          <a:prstGeom prst="rect">
            <a:avLst/>
          </a:prstGeom>
          <a:noFill/>
        </p:spPr>
        <p:txBody>
          <a:bodyPr wrap="square" lIns="36576" rIns="36576" tIns="18288" bIns="18288" anchor="t">
            <a:spAutoFit/>
          </a:bodyPr>
          <a:lstStyle/>
          <a:p>
            <a:pPr algn="l">
              <a:lnSpc>
                <a:spcPct val="110000"/>
              </a:lnSpc>
            </a:pPr>
            <a:r>
              <a:rPr sz="2200" b="1" u="none">
                <a:solidFill>
                  <a:srgbClr val="D01010"/>
                </a:solidFill>
                <a:latin typeface="맑은 고딕"/>
                <a:ea typeface="맑은 고딕"/>
                <a:cs typeface="맑은 고딕"/>
              </a:rPr>
              <a:t>Ⅰ</a:t>
            </a:r>
          </a:p>
        </p:txBody>
      </p:sp>
      <p:sp>
        <p:nvSpPr>
          <p:cNvPr id="7" name="TextBox 6"/>
          <p:cNvSpPr txBox="1"/>
          <p:nvPr/>
        </p:nvSpPr>
        <p:spPr>
          <a:xfrm>
            <a:off x="1737360" y="960120"/>
            <a:ext cx="6400800" cy="457200"/>
          </a:xfrm>
          <a:prstGeom prst="rect">
            <a:avLst/>
          </a:prstGeom>
          <a:noFill/>
        </p:spPr>
        <p:txBody>
          <a:bodyPr wrap="square" lIns="36576" rIns="36576" tIns="18288" bIns="18288" anchor="t">
            <a:spAutoFit/>
          </a:bodyPr>
          <a:lstStyle/>
          <a:p>
            <a:pPr algn="l">
              <a:lnSpc>
                <a:spcPct val="100000"/>
              </a:lnSpc>
            </a:pPr>
            <a:r>
              <a:rPr sz="1700" b="1" u="none">
                <a:solidFill>
                  <a:srgbClr val="1A1A1A"/>
                </a:solidFill>
                <a:latin typeface="맑은 고딕"/>
                <a:ea typeface="맑은 고딕"/>
                <a:cs typeface="맑은 고딕"/>
              </a:rPr>
              <a:t>연구 배경</a:t>
            </a:r>
          </a:p>
          <a:p>
            <a:pPr algn="l">
              <a:lnSpc>
                <a:spcPct val="100000"/>
              </a:lnSpc>
            </a:pPr>
            <a:r>
              <a:rPr sz="1100" b="0" u="none">
                <a:solidFill>
                  <a:srgbClr val="595959"/>
                </a:solidFill>
                <a:latin typeface="맑은 고딕"/>
                <a:ea typeface="맑은 고딕"/>
                <a:cs typeface="맑은 고딕"/>
              </a:rPr>
              <a:t>기업용 챗봇의 위협과 기존 대응의 한계</a:t>
            </a:r>
          </a:p>
        </p:txBody>
      </p:sp>
      <p:sp>
        <p:nvSpPr>
          <p:cNvPr id="8" name="TextBox 7"/>
          <p:cNvSpPr txBox="1"/>
          <p:nvPr/>
        </p:nvSpPr>
        <p:spPr>
          <a:xfrm>
            <a:off x="1097280" y="1673352"/>
            <a:ext cx="548640" cy="457200"/>
          </a:xfrm>
          <a:prstGeom prst="rect">
            <a:avLst/>
          </a:prstGeom>
          <a:noFill/>
        </p:spPr>
        <p:txBody>
          <a:bodyPr wrap="square" lIns="36576" rIns="36576" tIns="18288" bIns="18288" anchor="t">
            <a:spAutoFit/>
          </a:bodyPr>
          <a:lstStyle/>
          <a:p>
            <a:pPr algn="l">
              <a:lnSpc>
                <a:spcPct val="110000"/>
              </a:lnSpc>
            </a:pPr>
            <a:r>
              <a:rPr sz="2200" b="1" u="none">
                <a:solidFill>
                  <a:srgbClr val="D01010"/>
                </a:solidFill>
                <a:latin typeface="맑은 고딕"/>
                <a:ea typeface="맑은 고딕"/>
                <a:cs typeface="맑은 고딕"/>
              </a:rPr>
              <a:t>Ⅱ</a:t>
            </a:r>
          </a:p>
        </p:txBody>
      </p:sp>
      <p:sp>
        <p:nvSpPr>
          <p:cNvPr id="9" name="TextBox 8"/>
          <p:cNvSpPr txBox="1"/>
          <p:nvPr/>
        </p:nvSpPr>
        <p:spPr>
          <a:xfrm>
            <a:off x="1737360" y="1673352"/>
            <a:ext cx="6400800" cy="457200"/>
          </a:xfrm>
          <a:prstGeom prst="rect">
            <a:avLst/>
          </a:prstGeom>
          <a:noFill/>
        </p:spPr>
        <p:txBody>
          <a:bodyPr wrap="square" lIns="36576" rIns="36576" tIns="18288" bIns="18288" anchor="t">
            <a:spAutoFit/>
          </a:bodyPr>
          <a:lstStyle/>
          <a:p>
            <a:pPr algn="l">
              <a:lnSpc>
                <a:spcPct val="100000"/>
              </a:lnSpc>
            </a:pPr>
            <a:r>
              <a:rPr sz="1700" b="1" u="none">
                <a:solidFill>
                  <a:srgbClr val="1A1A1A"/>
                </a:solidFill>
                <a:latin typeface="맑은 고딕"/>
                <a:ea typeface="맑은 고딕"/>
                <a:cs typeface="맑은 고딕"/>
              </a:rPr>
              <a:t>관련 연구</a:t>
            </a:r>
          </a:p>
          <a:p>
            <a:pPr algn="l">
              <a:lnSpc>
                <a:spcPct val="100000"/>
              </a:lnSpc>
            </a:pPr>
            <a:r>
              <a:rPr sz="1100" b="0" u="none">
                <a:solidFill>
                  <a:srgbClr val="595959"/>
                </a:solidFill>
                <a:latin typeface="맑은 고딕"/>
                <a:ea typeface="맑은 고딕"/>
                <a:cs typeface="맑은 고딕"/>
              </a:rPr>
              <a:t>자가 개선 루프 · LLM-as-a-Judge · OWASP · CVSS</a:t>
            </a:r>
          </a:p>
        </p:txBody>
      </p:sp>
      <p:sp>
        <p:nvSpPr>
          <p:cNvPr id="10" name="TextBox 9"/>
          <p:cNvSpPr txBox="1"/>
          <p:nvPr/>
        </p:nvSpPr>
        <p:spPr>
          <a:xfrm>
            <a:off x="1097280" y="2386584"/>
            <a:ext cx="548640" cy="457200"/>
          </a:xfrm>
          <a:prstGeom prst="rect">
            <a:avLst/>
          </a:prstGeom>
          <a:noFill/>
        </p:spPr>
        <p:txBody>
          <a:bodyPr wrap="square" lIns="36576" rIns="36576" tIns="18288" bIns="18288" anchor="t">
            <a:spAutoFit/>
          </a:bodyPr>
          <a:lstStyle/>
          <a:p>
            <a:pPr algn="l">
              <a:lnSpc>
                <a:spcPct val="110000"/>
              </a:lnSpc>
            </a:pPr>
            <a:r>
              <a:rPr sz="2200" b="1" u="none">
                <a:solidFill>
                  <a:srgbClr val="D01010"/>
                </a:solidFill>
                <a:latin typeface="맑은 고딕"/>
                <a:ea typeface="맑은 고딕"/>
                <a:cs typeface="맑은 고딕"/>
              </a:rPr>
              <a:t>Ⅲ</a:t>
            </a:r>
          </a:p>
        </p:txBody>
      </p:sp>
      <p:sp>
        <p:nvSpPr>
          <p:cNvPr id="11" name="TextBox 10"/>
          <p:cNvSpPr txBox="1"/>
          <p:nvPr/>
        </p:nvSpPr>
        <p:spPr>
          <a:xfrm>
            <a:off x="1737360" y="2386584"/>
            <a:ext cx="6400800" cy="457200"/>
          </a:xfrm>
          <a:prstGeom prst="rect">
            <a:avLst/>
          </a:prstGeom>
          <a:noFill/>
        </p:spPr>
        <p:txBody>
          <a:bodyPr wrap="square" lIns="36576" rIns="36576" tIns="18288" bIns="18288" anchor="t">
            <a:spAutoFit/>
          </a:bodyPr>
          <a:lstStyle/>
          <a:p>
            <a:pPr algn="l">
              <a:lnSpc>
                <a:spcPct val="100000"/>
              </a:lnSpc>
            </a:pPr>
            <a:r>
              <a:rPr sz="1700" b="1" u="none">
                <a:solidFill>
                  <a:srgbClr val="1A1A1A"/>
                </a:solidFill>
                <a:latin typeface="맑은 고딕"/>
                <a:ea typeface="맑은 고딕"/>
                <a:cs typeface="맑은 고딕"/>
              </a:rPr>
              <a:t>자가 치유 메커니즘</a:t>
            </a:r>
          </a:p>
          <a:p>
            <a:pPr algn="l">
              <a:lnSpc>
                <a:spcPct val="100000"/>
              </a:lnSpc>
            </a:pPr>
            <a:r>
              <a:rPr sz="1100" b="0" u="none">
                <a:solidFill>
                  <a:srgbClr val="595959"/>
                </a:solidFill>
                <a:latin typeface="맑은 고딕"/>
                <a:ea typeface="맑은 고딕"/>
                <a:cs typeface="맑은 고딕"/>
              </a:rPr>
              <a:t>SRS → 공격 → 응답 → 채점 → Meta-Rule → 검증</a:t>
            </a:r>
          </a:p>
        </p:txBody>
      </p:sp>
      <p:sp>
        <p:nvSpPr>
          <p:cNvPr id="12" name="TextBox 11"/>
          <p:cNvSpPr txBox="1"/>
          <p:nvPr/>
        </p:nvSpPr>
        <p:spPr>
          <a:xfrm>
            <a:off x="1097280" y="3099815"/>
            <a:ext cx="548640" cy="457200"/>
          </a:xfrm>
          <a:prstGeom prst="rect">
            <a:avLst/>
          </a:prstGeom>
          <a:noFill/>
        </p:spPr>
        <p:txBody>
          <a:bodyPr wrap="square" lIns="36576" rIns="36576" tIns="18288" bIns="18288" anchor="t">
            <a:spAutoFit/>
          </a:bodyPr>
          <a:lstStyle/>
          <a:p>
            <a:pPr algn="l">
              <a:lnSpc>
                <a:spcPct val="110000"/>
              </a:lnSpc>
            </a:pPr>
            <a:r>
              <a:rPr sz="2200" b="1" u="none">
                <a:solidFill>
                  <a:srgbClr val="D01010"/>
                </a:solidFill>
                <a:latin typeface="맑은 고딕"/>
                <a:ea typeface="맑은 고딕"/>
                <a:cs typeface="맑은 고딕"/>
              </a:rPr>
              <a:t>Ⅳ</a:t>
            </a:r>
          </a:p>
        </p:txBody>
      </p:sp>
      <p:sp>
        <p:nvSpPr>
          <p:cNvPr id="13" name="TextBox 12"/>
          <p:cNvSpPr txBox="1"/>
          <p:nvPr/>
        </p:nvSpPr>
        <p:spPr>
          <a:xfrm>
            <a:off x="1737360" y="3099815"/>
            <a:ext cx="6400800" cy="457200"/>
          </a:xfrm>
          <a:prstGeom prst="rect">
            <a:avLst/>
          </a:prstGeom>
          <a:noFill/>
        </p:spPr>
        <p:txBody>
          <a:bodyPr wrap="square" lIns="36576" rIns="36576" tIns="18288" bIns="18288" anchor="t">
            <a:spAutoFit/>
          </a:bodyPr>
          <a:lstStyle/>
          <a:p>
            <a:pPr algn="l">
              <a:lnSpc>
                <a:spcPct val="100000"/>
              </a:lnSpc>
            </a:pPr>
            <a:r>
              <a:rPr sz="1700" b="1" u="none">
                <a:solidFill>
                  <a:srgbClr val="1A1A1A"/>
                </a:solidFill>
                <a:latin typeface="맑은 고딕"/>
                <a:ea typeface="맑은 고딕"/>
                <a:cs typeface="맑은 고딕"/>
              </a:rPr>
              <a:t>실험 및 결과</a:t>
            </a:r>
          </a:p>
          <a:p>
            <a:pPr algn="l">
              <a:lnSpc>
                <a:spcPct val="100000"/>
              </a:lnSpc>
            </a:pPr>
            <a:r>
              <a:rPr sz="1100" b="0" u="none">
                <a:solidFill>
                  <a:srgbClr val="595959"/>
                </a:solidFill>
                <a:latin typeface="맑은 고딕"/>
                <a:ea typeface="맑은 고딕"/>
                <a:cs typeface="맑은 고딕"/>
              </a:rPr>
              <a:t>실제 운영 챗봇 프로젝트, 5라운드·15라운드 실행</a:t>
            </a:r>
          </a:p>
        </p:txBody>
      </p:sp>
      <p:sp>
        <p:nvSpPr>
          <p:cNvPr id="14" name="TextBox 13"/>
          <p:cNvSpPr txBox="1"/>
          <p:nvPr/>
        </p:nvSpPr>
        <p:spPr>
          <a:xfrm>
            <a:off x="1097280" y="3813048"/>
            <a:ext cx="548640" cy="457200"/>
          </a:xfrm>
          <a:prstGeom prst="rect">
            <a:avLst/>
          </a:prstGeom>
          <a:noFill/>
        </p:spPr>
        <p:txBody>
          <a:bodyPr wrap="square" lIns="36576" rIns="36576" tIns="18288" bIns="18288" anchor="t">
            <a:spAutoFit/>
          </a:bodyPr>
          <a:lstStyle/>
          <a:p>
            <a:pPr algn="l">
              <a:lnSpc>
                <a:spcPct val="110000"/>
              </a:lnSpc>
            </a:pPr>
            <a:r>
              <a:rPr sz="2200" b="1" u="none">
                <a:solidFill>
                  <a:srgbClr val="D01010"/>
                </a:solidFill>
                <a:latin typeface="맑은 고딕"/>
                <a:ea typeface="맑은 고딕"/>
                <a:cs typeface="맑은 고딕"/>
              </a:rPr>
              <a:t>Ⅴ</a:t>
            </a:r>
          </a:p>
        </p:txBody>
      </p:sp>
      <p:sp>
        <p:nvSpPr>
          <p:cNvPr id="15" name="TextBox 14"/>
          <p:cNvSpPr txBox="1"/>
          <p:nvPr/>
        </p:nvSpPr>
        <p:spPr>
          <a:xfrm>
            <a:off x="1737360" y="3813048"/>
            <a:ext cx="6400800" cy="457200"/>
          </a:xfrm>
          <a:prstGeom prst="rect">
            <a:avLst/>
          </a:prstGeom>
          <a:noFill/>
        </p:spPr>
        <p:txBody>
          <a:bodyPr wrap="square" lIns="36576" rIns="36576" tIns="18288" bIns="18288" anchor="t">
            <a:spAutoFit/>
          </a:bodyPr>
          <a:lstStyle/>
          <a:p>
            <a:pPr algn="l">
              <a:lnSpc>
                <a:spcPct val="100000"/>
              </a:lnSpc>
            </a:pPr>
            <a:r>
              <a:rPr sz="1700" b="1" u="none">
                <a:solidFill>
                  <a:srgbClr val="1A1A1A"/>
                </a:solidFill>
                <a:latin typeface="맑은 고딕"/>
                <a:ea typeface="맑은 고딕"/>
                <a:cs typeface="맑은 고딕"/>
              </a:rPr>
              <a:t>결론</a:t>
            </a:r>
          </a:p>
          <a:p>
            <a:pPr algn="l">
              <a:lnSpc>
                <a:spcPct val="100000"/>
              </a:lnSpc>
            </a:pPr>
            <a:r>
              <a:rPr sz="1100" b="0" u="none">
                <a:solidFill>
                  <a:srgbClr val="595959"/>
                </a:solidFill>
                <a:latin typeface="맑은 고딕"/>
                <a:ea typeface="맑은 고딕"/>
                <a:cs typeface="맑은 고딕"/>
              </a:rPr>
              <a:t>요약과 향후 과제</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274320"/>
            <a:ext cx="8321040" cy="457200"/>
          </a:xfrm>
          <a:prstGeom prst="rect">
            <a:avLst/>
          </a:prstGeom>
          <a:noFill/>
        </p:spPr>
        <p:txBody>
          <a:bodyPr wrap="square" lIns="36576" rIns="36576" tIns="18288" bIns="18288" anchor="t">
            <a:spAutoFit/>
          </a:bodyPr>
          <a:lstStyle/>
          <a:p>
            <a:pPr algn="l">
              <a:lnSpc>
                <a:spcPct val="110000"/>
              </a:lnSpc>
            </a:pPr>
            <a:r>
              <a:rPr sz="1300" b="0" u="none">
                <a:solidFill>
                  <a:srgbClr val="595959"/>
                </a:solidFill>
                <a:latin typeface="맑은 고딕"/>
                <a:ea typeface="맑은 고딕"/>
                <a:cs typeface="맑은 고딕"/>
              </a:rPr>
              <a:t>Ⅰ. 연구 배경  </a:t>
            </a:r>
            <a:r>
              <a:rPr sz="1900" b="1" u="none">
                <a:solidFill>
                  <a:srgbClr val="1A1A1A"/>
                </a:solidFill>
                <a:latin typeface="맑은 고딕"/>
                <a:ea typeface="맑은 고딕"/>
                <a:cs typeface="맑은 고딕"/>
              </a:rPr>
              <a:t>기업용 챗봇의 위협과 기존 대응의 한계</a:t>
            </a:r>
          </a:p>
        </p:txBody>
      </p:sp>
      <p:cxnSp>
        <p:nvCxnSpPr>
          <p:cNvPr id="3" name="Connector 2"/>
          <p:cNvCxnSpPr/>
          <p:nvPr/>
        </p:nvCxnSpPr>
        <p:spPr>
          <a:xfrm>
            <a:off x="411480" y="4800600"/>
            <a:ext cx="8321040"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11480" y="4828032"/>
            <a:ext cx="5486400" cy="228600"/>
          </a:xfrm>
          <a:prstGeom prst="rect">
            <a:avLst/>
          </a:prstGeom>
          <a:noFill/>
        </p:spPr>
        <p:txBody>
          <a:bodyPr wrap="square" lIns="36576" rIns="36576" tIns="18288" bIns="18288" anchor="t">
            <a:spAutoFit/>
          </a:bodyPr>
          <a:lstStyle/>
          <a:p>
            <a:pPr algn="l">
              <a:lnSpc>
                <a:spcPct val="110000"/>
              </a:lnSpc>
            </a:pPr>
            <a:r>
              <a:rPr sz="800" b="0" u="none">
                <a:solidFill>
                  <a:srgbClr val="595959"/>
                </a:solidFill>
                <a:latin typeface="맑은 고딕"/>
                <a:ea typeface="맑은 고딕"/>
                <a:cs typeface="맑은 고딕"/>
              </a:rPr>
              <a:t>2026년도 한국인터넷정보학회 추계학술발표대회</a:t>
            </a:r>
          </a:p>
        </p:txBody>
      </p:sp>
      <p:sp>
        <p:nvSpPr>
          <p:cNvPr id="5" name="TextBox 4"/>
          <p:cNvSpPr txBox="1"/>
          <p:nvPr/>
        </p:nvSpPr>
        <p:spPr>
          <a:xfrm>
            <a:off x="5486400" y="4828032"/>
            <a:ext cx="3246120" cy="228600"/>
          </a:xfrm>
          <a:prstGeom prst="rect">
            <a:avLst/>
          </a:prstGeom>
          <a:noFill/>
        </p:spPr>
        <p:txBody>
          <a:bodyPr wrap="square" lIns="36576" rIns="36576" tIns="18288" bIns="18288" anchor="t">
            <a:spAutoFit/>
          </a:bodyPr>
          <a:lstStyle/>
          <a:p>
            <a:pPr algn="r">
              <a:lnSpc>
                <a:spcPct val="110000"/>
              </a:lnSpc>
            </a:pPr>
            <a:r>
              <a:rPr sz="800" b="0" u="none">
                <a:solidFill>
                  <a:srgbClr val="595959"/>
                </a:solidFill>
                <a:latin typeface="맑은 고딕"/>
                <a:ea typeface="맑은 고딕"/>
                <a:cs typeface="맑은 고딕"/>
              </a:rPr>
              <a:t>Hongik University Software Engineering Lab   3</a:t>
            </a:r>
          </a:p>
        </p:txBody>
      </p:sp>
      <p:pic>
        <p:nvPicPr>
          <p:cNvPr id="6" name="Picture 5" descr="N01_threats_4.png"/>
          <p:cNvPicPr>
            <a:picLocks noChangeAspect="1"/>
          </p:cNvPicPr>
          <p:nvPr/>
        </p:nvPicPr>
        <p:blipFill>
          <a:blip r:embed="rId2"/>
          <a:stretch>
            <a:fillRect/>
          </a:stretch>
        </p:blipFill>
        <p:spPr>
          <a:xfrm>
            <a:off x="320040" y="1162632"/>
            <a:ext cx="3291839" cy="2749654"/>
          </a:xfrm>
          <a:prstGeom prst="rect">
            <a:avLst/>
          </a:prstGeom>
        </p:spPr>
      </p:pic>
      <p:pic>
        <p:nvPicPr>
          <p:cNvPr id="7" name="Picture 6" descr="N02_existing_approaches.png"/>
          <p:cNvPicPr>
            <a:picLocks noChangeAspect="1"/>
          </p:cNvPicPr>
          <p:nvPr/>
        </p:nvPicPr>
        <p:blipFill>
          <a:blip r:embed="rId3"/>
          <a:stretch>
            <a:fillRect/>
          </a:stretch>
        </p:blipFill>
        <p:spPr>
          <a:xfrm>
            <a:off x="3938290" y="868680"/>
            <a:ext cx="4650698" cy="3337560"/>
          </a:xfrm>
          <a:prstGeom prst="rect">
            <a:avLst/>
          </a:prstGeom>
        </p:spPr>
      </p:pic>
      <p:sp>
        <p:nvSpPr>
          <p:cNvPr id="8" name="TextBox 7"/>
          <p:cNvSpPr txBox="1"/>
          <p:nvPr/>
        </p:nvSpPr>
        <p:spPr>
          <a:xfrm>
            <a:off x="411480" y="4343400"/>
            <a:ext cx="8321040" cy="384048"/>
          </a:xfrm>
          <a:prstGeom prst="rect">
            <a:avLst/>
          </a:prstGeom>
          <a:noFill/>
        </p:spPr>
        <p:txBody>
          <a:bodyPr wrap="square" lIns="36576" rIns="36576" tIns="18288" bIns="18288" anchor="t">
            <a:spAutoFit/>
          </a:bodyPr>
          <a:lstStyle/>
          <a:p>
            <a:pPr algn="ctr">
              <a:lnSpc>
                <a:spcPct val="110000"/>
              </a:lnSpc>
            </a:pPr>
            <a:r>
              <a:rPr sz="1100" b="1" u="none">
                <a:solidFill>
                  <a:srgbClr val="D01010"/>
                </a:solidFill>
                <a:latin typeface="맑은 고딕"/>
                <a:ea typeface="맑은 고딕"/>
                <a:cs typeface="맑은 고딕"/>
              </a:rPr>
              <a:t>핵심  </a:t>
            </a:r>
            <a:r>
              <a:rPr sz="1100" b="0" u="none">
                <a:solidFill>
                  <a:srgbClr val="1A1A1A"/>
                </a:solidFill>
                <a:latin typeface="맑은 고딕"/>
                <a:ea typeface="맑은 고딕"/>
                <a:cs typeface="맑은 고딕"/>
              </a:rPr>
              <a:t>공격으로 찾아낸 결함을 Meta-Rule로 바꿔 SRS에 되먹이면, 사람이 규칙을 직접 쓰지 않고도 가이드라인 준수를 측정·개선할 수 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274320"/>
            <a:ext cx="8321040" cy="457200"/>
          </a:xfrm>
          <a:prstGeom prst="rect">
            <a:avLst/>
          </a:prstGeom>
          <a:noFill/>
        </p:spPr>
        <p:txBody>
          <a:bodyPr wrap="square" lIns="36576" rIns="36576" tIns="18288" bIns="18288" anchor="t">
            <a:spAutoFit/>
          </a:bodyPr>
          <a:lstStyle/>
          <a:p>
            <a:pPr algn="l">
              <a:lnSpc>
                <a:spcPct val="110000"/>
              </a:lnSpc>
            </a:pPr>
            <a:r>
              <a:rPr sz="1300" b="0" u="none">
                <a:solidFill>
                  <a:srgbClr val="595959"/>
                </a:solidFill>
                <a:latin typeface="맑은 고딕"/>
                <a:ea typeface="맑은 고딕"/>
                <a:cs typeface="맑은 고딕"/>
              </a:rPr>
              <a:t>Ⅱ. 관련 연구  </a:t>
            </a:r>
            <a:r>
              <a:rPr sz="1900" b="1" u="none">
                <a:solidFill>
                  <a:srgbClr val="1A1A1A"/>
                </a:solidFill>
                <a:latin typeface="맑은 고딕"/>
                <a:ea typeface="맑은 고딕"/>
                <a:cs typeface="맑은 고딕"/>
              </a:rPr>
              <a:t>자가 개선 루프와 평가 기준</a:t>
            </a:r>
          </a:p>
        </p:txBody>
      </p:sp>
      <p:cxnSp>
        <p:nvCxnSpPr>
          <p:cNvPr id="3" name="Connector 2"/>
          <p:cNvCxnSpPr/>
          <p:nvPr/>
        </p:nvCxnSpPr>
        <p:spPr>
          <a:xfrm>
            <a:off x="411480" y="4800600"/>
            <a:ext cx="8321040"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11480" y="4828032"/>
            <a:ext cx="5486400" cy="228600"/>
          </a:xfrm>
          <a:prstGeom prst="rect">
            <a:avLst/>
          </a:prstGeom>
          <a:noFill/>
        </p:spPr>
        <p:txBody>
          <a:bodyPr wrap="square" lIns="36576" rIns="36576" tIns="18288" bIns="18288" anchor="t">
            <a:spAutoFit/>
          </a:bodyPr>
          <a:lstStyle/>
          <a:p>
            <a:pPr algn="l">
              <a:lnSpc>
                <a:spcPct val="110000"/>
              </a:lnSpc>
            </a:pPr>
            <a:r>
              <a:rPr sz="800" b="0" u="none">
                <a:solidFill>
                  <a:srgbClr val="595959"/>
                </a:solidFill>
                <a:latin typeface="맑은 고딕"/>
                <a:ea typeface="맑은 고딕"/>
                <a:cs typeface="맑은 고딕"/>
              </a:rPr>
              <a:t>2026년도 한국인터넷정보학회 추계학술발표대회</a:t>
            </a:r>
          </a:p>
        </p:txBody>
      </p:sp>
      <p:sp>
        <p:nvSpPr>
          <p:cNvPr id="5" name="TextBox 4"/>
          <p:cNvSpPr txBox="1"/>
          <p:nvPr/>
        </p:nvSpPr>
        <p:spPr>
          <a:xfrm>
            <a:off x="5486400" y="4828032"/>
            <a:ext cx="3246120" cy="228600"/>
          </a:xfrm>
          <a:prstGeom prst="rect">
            <a:avLst/>
          </a:prstGeom>
          <a:noFill/>
        </p:spPr>
        <p:txBody>
          <a:bodyPr wrap="square" lIns="36576" rIns="36576" tIns="18288" bIns="18288" anchor="t">
            <a:spAutoFit/>
          </a:bodyPr>
          <a:lstStyle/>
          <a:p>
            <a:pPr algn="r">
              <a:lnSpc>
                <a:spcPct val="110000"/>
              </a:lnSpc>
            </a:pPr>
            <a:r>
              <a:rPr sz="800" b="0" u="none">
                <a:solidFill>
                  <a:srgbClr val="595959"/>
                </a:solidFill>
                <a:latin typeface="맑은 고딕"/>
                <a:ea typeface="맑은 고딕"/>
                <a:cs typeface="맑은 고딕"/>
              </a:rPr>
              <a:t>Hongik University Software Engineering Lab   4</a:t>
            </a:r>
          </a:p>
        </p:txBody>
      </p:sp>
      <p:pic>
        <p:nvPicPr>
          <p:cNvPr id="6" name="Picture 5" descr="N04_related_work_compare.png"/>
          <p:cNvPicPr>
            <a:picLocks noChangeAspect="1"/>
          </p:cNvPicPr>
          <p:nvPr/>
        </p:nvPicPr>
        <p:blipFill>
          <a:blip r:embed="rId2"/>
          <a:stretch>
            <a:fillRect/>
          </a:stretch>
        </p:blipFill>
        <p:spPr>
          <a:xfrm>
            <a:off x="655217" y="868680"/>
            <a:ext cx="4358845" cy="3794760"/>
          </a:xfrm>
          <a:prstGeom prst="rect">
            <a:avLst/>
          </a:prstGeom>
        </p:spPr>
      </p:pic>
      <p:sp>
        <p:nvSpPr>
          <p:cNvPr id="7" name="TextBox 6"/>
          <p:cNvSpPr txBox="1"/>
          <p:nvPr/>
        </p:nvSpPr>
        <p:spPr>
          <a:xfrm>
            <a:off x="5577840" y="868680"/>
            <a:ext cx="3200400" cy="3840480"/>
          </a:xfrm>
          <a:prstGeom prst="rect">
            <a:avLst/>
          </a:prstGeom>
          <a:noFill/>
        </p:spPr>
        <p:txBody>
          <a:bodyPr wrap="square" lIns="36576" rIns="36576" tIns="18288" bIns="18288" anchor="t">
            <a:spAutoFit/>
          </a:bodyPr>
          <a:lstStyle/>
          <a:p>
            <a:pPr algn="l">
              <a:lnSpc>
                <a:spcPct val="120000"/>
              </a:lnSpc>
            </a:pPr>
            <a:r>
              <a:rPr sz="1200" b="0" u="none">
                <a:solidFill>
                  <a:srgbClr val="1A1A1A"/>
                </a:solidFill>
                <a:latin typeface="맑은 고딕"/>
                <a:ea typeface="맑은 고딕"/>
                <a:cs typeface="맑은 고딕"/>
              </a:rPr>
              <a:t>• </a:t>
            </a:r>
            <a:r>
              <a:rPr sz="1200" b="1" u="none">
                <a:solidFill>
                  <a:srgbClr val="1A1A1A"/>
                </a:solidFill>
                <a:latin typeface="맑은 고딕"/>
                <a:ea typeface="맑은 고딕"/>
                <a:cs typeface="맑은 고딕"/>
              </a:rPr>
              <a:t>PRISM [2]</a:t>
            </a:r>
            <a:r>
              <a:rPr sz="1200" b="0" u="none">
                <a:solidFill>
                  <a:srgbClr val="1A1A1A"/>
                </a:solidFill>
                <a:latin typeface="맑은 고딕"/>
                <a:ea typeface="맑은 고딕"/>
                <a:cs typeface="맑은 고딕"/>
              </a:rPr>
              <a:t> 테스트→평가→프롬프트 수정</a:t>
            </a:r>
          </a:p>
          <a:p>
            <a:pPr algn="l">
              <a:lnSpc>
                <a:spcPct val="120000"/>
              </a:lnSpc>
            </a:pPr>
            <a:r>
              <a:rPr sz="1200" b="0" u="none">
                <a:solidFill>
                  <a:srgbClr val="1A1A1A"/>
                </a:solidFill>
                <a:latin typeface="맑은 고딕"/>
                <a:ea typeface="맑은 고딕"/>
                <a:cs typeface="맑은 고딕"/>
              </a:rPr>
              <a:t>• </a:t>
            </a:r>
            <a:r>
              <a:rPr sz="1200" b="1" u="none">
                <a:solidFill>
                  <a:srgbClr val="1A1A1A"/>
                </a:solidFill>
                <a:latin typeface="맑은 고딕"/>
                <a:ea typeface="맑은 고딕"/>
                <a:cs typeface="맑은 고딕"/>
              </a:rPr>
              <a:t>SISF [3]</a:t>
            </a:r>
            <a:r>
              <a:rPr sz="1200" b="0" u="none">
                <a:solidFill>
                  <a:srgbClr val="1A1A1A"/>
                </a:solidFill>
                <a:latin typeface="맑은 고딕"/>
                <a:ea typeface="맑은 고딕"/>
                <a:cs typeface="맑은 고딕"/>
              </a:rPr>
              <a:t> 판정→정책 합성→적용</a:t>
            </a:r>
          </a:p>
          <a:p>
            <a:pPr algn="l">
              <a:lnSpc>
                <a:spcPct val="120000"/>
              </a:lnSpc>
            </a:pPr>
            <a:r>
              <a:rPr sz="1200" b="0" u="none">
                <a:solidFill>
                  <a:srgbClr val="1A1A1A"/>
                </a:solidFill>
                <a:latin typeface="맑은 고딕"/>
                <a:ea typeface="맑은 고딕"/>
                <a:cs typeface="맑은 고딕"/>
              </a:rPr>
              <a:t>• </a:t>
            </a:r>
            <a:r>
              <a:rPr sz="1200" b="1" u="none">
                <a:solidFill>
                  <a:srgbClr val="1A1A1A"/>
                </a:solidFill>
                <a:latin typeface="맑은 고딕"/>
                <a:ea typeface="맑은 고딕"/>
                <a:cs typeface="맑은 고딕"/>
              </a:rPr>
              <a:t>LLM-as-a-Judge [4]</a:t>
            </a:r>
            <a:r>
              <a:rPr sz="1200" b="0" u="none">
                <a:solidFill>
                  <a:srgbClr val="1A1A1A"/>
                </a:solidFill>
                <a:latin typeface="맑은 고딕"/>
                <a:ea typeface="맑은 고딕"/>
                <a:cs typeface="맑은 고딕"/>
              </a:rPr>
              <a:t> 자동 채점, 편향 존재</a:t>
            </a:r>
          </a:p>
          <a:p>
            <a:pPr algn="l">
              <a:lnSpc>
                <a:spcPct val="120000"/>
              </a:lnSpc>
            </a:pPr>
            <a:r>
              <a:rPr sz="1100" b="0" u="none">
                <a:solidFill>
                  <a:srgbClr val="1A1A1A"/>
                </a:solidFill>
                <a:latin typeface="맑은 고딕"/>
                <a:ea typeface="맑은 고딕"/>
                <a:cs typeface="맑은 고딕"/>
              </a:rPr>
              <a:t>   → </a:t>
            </a:r>
            <a:r>
              <a:rPr sz="1100" b="0" u="none">
                <a:solidFill>
                  <a:srgbClr val="1A1A1A"/>
                </a:solidFill>
                <a:latin typeface="맑은 고딕"/>
                <a:ea typeface="맑은 고딕"/>
                <a:cs typeface="맑은 고딕"/>
              </a:rPr>
              <a:t>완화: 무상태 호출, 타 벤더 재채점</a:t>
            </a:r>
          </a:p>
          <a:p>
            <a:pPr algn="l">
              <a:lnSpc>
                <a:spcPct val="120000"/>
              </a:lnSpc>
            </a:pPr>
            <a:r>
              <a:rPr sz="1200" b="0" u="none">
                <a:solidFill>
                  <a:srgbClr val="1A1A1A"/>
                </a:solidFill>
                <a:latin typeface="맑은 고딕"/>
                <a:ea typeface="맑은 고딕"/>
                <a:cs typeface="맑은 고딕"/>
              </a:rPr>
              <a:t>• </a:t>
            </a:r>
            <a:r>
              <a:rPr sz="1200" b="1" u="none">
                <a:solidFill>
                  <a:srgbClr val="1A1A1A"/>
                </a:solidFill>
                <a:latin typeface="맑은 고딕"/>
                <a:ea typeface="맑은 고딕"/>
                <a:cs typeface="맑은 고딕"/>
              </a:rPr>
              <a:t>OWASP LLM Top 10 [5]</a:t>
            </a:r>
            <a:r>
              <a:rPr sz="1200" b="0" u="none">
                <a:solidFill>
                  <a:srgbClr val="1A1A1A"/>
                </a:solidFill>
                <a:latin typeface="맑은 고딕"/>
                <a:ea typeface="맑은 고딕"/>
                <a:cs typeface="맑은 고딕"/>
              </a:rPr>
              <a:t> → 8개 공격 범주</a:t>
            </a:r>
          </a:p>
          <a:p>
            <a:pPr algn="l">
              <a:lnSpc>
                <a:spcPct val="120000"/>
              </a:lnSpc>
            </a:pPr>
            <a:r>
              <a:rPr sz="1200" b="0" u="none">
                <a:solidFill>
                  <a:srgbClr val="1A1A1A"/>
                </a:solidFill>
                <a:latin typeface="맑은 고딕"/>
                <a:ea typeface="맑은 고딕"/>
                <a:cs typeface="맑은 고딕"/>
              </a:rPr>
              <a:t>• </a:t>
            </a:r>
            <a:r>
              <a:rPr sz="1200" b="1" u="none">
                <a:solidFill>
                  <a:srgbClr val="1A1A1A"/>
                </a:solidFill>
                <a:latin typeface="맑은 고딕"/>
                <a:ea typeface="맑은 고딕"/>
                <a:cs typeface="맑은 고딕"/>
              </a:rPr>
              <a:t>OWASP Risk Rating·CVSS [6][7]</a:t>
            </a:r>
            <a:r>
              <a:rPr sz="1200" b="0" u="none">
                <a:solidFill>
                  <a:srgbClr val="1A1A1A"/>
                </a:solidFill>
                <a:latin typeface="맑은 고딕"/>
                <a:ea typeface="맑은 고딕"/>
                <a:cs typeface="맑은 고딕"/>
              </a:rPr>
              <a:t> → 4단계 Level</a:t>
            </a:r>
          </a:p>
          <a:p>
            <a:pPr algn="l">
              <a:lnSpc>
                <a:spcPct val="120000"/>
              </a:lnSpc>
            </a:pPr>
            <a:r>
              <a:rPr sz="1200" b="0" u="none">
                <a:solidFill>
                  <a:srgbClr val="1A1A1A"/>
                </a:solidFill>
                <a:latin typeface="맑은 고딕"/>
                <a:ea typeface="맑은 고딕"/>
                <a:cs typeface="맑은 고딕"/>
              </a:rPr>
              <a:t>• </a:t>
            </a:r>
            <a:r>
              <a:rPr sz="1200" b="0" u="none">
                <a:solidFill>
                  <a:srgbClr val="1A1A1A"/>
                </a:solidFill>
                <a:latin typeface="맑은 고딕"/>
                <a:ea typeface="맑은 고딕"/>
                <a:cs typeface="맑은 고딕"/>
              </a:rPr>
              <a:t>본 연구: </a:t>
            </a:r>
            <a:r>
              <a:rPr sz="1200" b="1" u="none">
                <a:solidFill>
                  <a:srgbClr val="D01010"/>
                </a:solidFill>
                <a:latin typeface="맑은 고딕"/>
                <a:ea typeface="맑은 고딕"/>
                <a:cs typeface="맑은 고딕"/>
              </a:rPr>
              <a:t>명시적 SRS · 4단계 Level · 8범주</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274320"/>
            <a:ext cx="8321040" cy="457200"/>
          </a:xfrm>
          <a:prstGeom prst="rect">
            <a:avLst/>
          </a:prstGeom>
          <a:noFill/>
        </p:spPr>
        <p:txBody>
          <a:bodyPr wrap="square" lIns="36576" rIns="36576" tIns="18288" bIns="18288" anchor="t">
            <a:spAutoFit/>
          </a:bodyPr>
          <a:lstStyle/>
          <a:p>
            <a:pPr algn="l">
              <a:lnSpc>
                <a:spcPct val="110000"/>
              </a:lnSpc>
            </a:pPr>
            <a:r>
              <a:rPr sz="1300" b="0" u="none">
                <a:solidFill>
                  <a:srgbClr val="595959"/>
                </a:solidFill>
                <a:latin typeface="맑은 고딕"/>
                <a:ea typeface="맑은 고딕"/>
                <a:cs typeface="맑은 고딕"/>
              </a:rPr>
              <a:t>Ⅲ. 자가 치유 메커니즘  </a:t>
            </a:r>
            <a:r>
              <a:rPr sz="1900" b="1" u="none">
                <a:solidFill>
                  <a:srgbClr val="1A1A1A"/>
                </a:solidFill>
                <a:latin typeface="맑은 고딕"/>
                <a:ea typeface="맑은 고딕"/>
                <a:cs typeface="맑은 고딕"/>
              </a:rPr>
              <a:t>전체 구조</a:t>
            </a:r>
          </a:p>
        </p:txBody>
      </p:sp>
      <p:cxnSp>
        <p:nvCxnSpPr>
          <p:cNvPr id="3" name="Connector 2"/>
          <p:cNvCxnSpPr/>
          <p:nvPr/>
        </p:nvCxnSpPr>
        <p:spPr>
          <a:xfrm>
            <a:off x="411480" y="4800600"/>
            <a:ext cx="8321040"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11480" y="4828032"/>
            <a:ext cx="5486400" cy="228600"/>
          </a:xfrm>
          <a:prstGeom prst="rect">
            <a:avLst/>
          </a:prstGeom>
          <a:noFill/>
        </p:spPr>
        <p:txBody>
          <a:bodyPr wrap="square" lIns="36576" rIns="36576" tIns="18288" bIns="18288" anchor="t">
            <a:spAutoFit/>
          </a:bodyPr>
          <a:lstStyle/>
          <a:p>
            <a:pPr algn="l">
              <a:lnSpc>
                <a:spcPct val="110000"/>
              </a:lnSpc>
            </a:pPr>
            <a:r>
              <a:rPr sz="800" b="0" u="none">
                <a:solidFill>
                  <a:srgbClr val="595959"/>
                </a:solidFill>
                <a:latin typeface="맑은 고딕"/>
                <a:ea typeface="맑은 고딕"/>
                <a:cs typeface="맑은 고딕"/>
              </a:rPr>
              <a:t>2026년도 한국인터넷정보학회 추계학술발표대회</a:t>
            </a:r>
          </a:p>
        </p:txBody>
      </p:sp>
      <p:sp>
        <p:nvSpPr>
          <p:cNvPr id="5" name="TextBox 4"/>
          <p:cNvSpPr txBox="1"/>
          <p:nvPr/>
        </p:nvSpPr>
        <p:spPr>
          <a:xfrm>
            <a:off x="5486400" y="4828032"/>
            <a:ext cx="3246120" cy="228600"/>
          </a:xfrm>
          <a:prstGeom prst="rect">
            <a:avLst/>
          </a:prstGeom>
          <a:noFill/>
        </p:spPr>
        <p:txBody>
          <a:bodyPr wrap="square" lIns="36576" rIns="36576" tIns="18288" bIns="18288" anchor="t">
            <a:spAutoFit/>
          </a:bodyPr>
          <a:lstStyle/>
          <a:p>
            <a:pPr algn="r">
              <a:lnSpc>
                <a:spcPct val="110000"/>
              </a:lnSpc>
            </a:pPr>
            <a:r>
              <a:rPr sz="800" b="0" u="none">
                <a:solidFill>
                  <a:srgbClr val="595959"/>
                </a:solidFill>
                <a:latin typeface="맑은 고딕"/>
                <a:ea typeface="맑은 고딕"/>
                <a:cs typeface="맑은 고딕"/>
              </a:rPr>
              <a:t>Hongik University Software Engineering Lab   5</a:t>
            </a:r>
          </a:p>
        </p:txBody>
      </p:sp>
      <p:pic>
        <p:nvPicPr>
          <p:cNvPr id="6" name="Picture 5" descr="N07_mechanism_overview.png"/>
          <p:cNvPicPr>
            <a:picLocks noChangeAspect="1"/>
          </p:cNvPicPr>
          <p:nvPr/>
        </p:nvPicPr>
        <p:blipFill>
          <a:blip r:embed="rId2"/>
          <a:stretch>
            <a:fillRect/>
          </a:stretch>
        </p:blipFill>
        <p:spPr>
          <a:xfrm>
            <a:off x="660064" y="868680"/>
            <a:ext cx="4349150" cy="3794760"/>
          </a:xfrm>
          <a:prstGeom prst="rect">
            <a:avLst/>
          </a:prstGeom>
        </p:spPr>
      </p:pic>
      <p:sp>
        <p:nvSpPr>
          <p:cNvPr id="7" name="TextBox 6"/>
          <p:cNvSpPr txBox="1"/>
          <p:nvPr/>
        </p:nvSpPr>
        <p:spPr>
          <a:xfrm>
            <a:off x="5577840" y="868680"/>
            <a:ext cx="3200400" cy="3840480"/>
          </a:xfrm>
          <a:prstGeom prst="rect">
            <a:avLst/>
          </a:prstGeom>
          <a:noFill/>
        </p:spPr>
        <p:txBody>
          <a:bodyPr wrap="square" lIns="36576" rIns="36576" tIns="18288" bIns="18288" anchor="t">
            <a:spAutoFit/>
          </a:bodyPr>
          <a:lstStyle/>
          <a:p>
            <a:pPr algn="l">
              <a:lnSpc>
                <a:spcPct val="120000"/>
              </a:lnSpc>
            </a:pPr>
            <a:r>
              <a:rPr sz="1300" b="0" u="none">
                <a:solidFill>
                  <a:srgbClr val="1A1A1A"/>
                </a:solidFill>
                <a:latin typeface="맑은 고딕"/>
                <a:ea typeface="맑은 고딕"/>
                <a:cs typeface="맑은 고딕"/>
              </a:rPr>
              <a:t>• </a:t>
            </a:r>
            <a:r>
              <a:rPr sz="1300" b="1" u="none">
                <a:solidFill>
                  <a:srgbClr val="1A1A1A"/>
                </a:solidFill>
                <a:latin typeface="맑은 고딕"/>
                <a:ea typeface="맑은 고딕"/>
                <a:cs typeface="맑은 고딕"/>
              </a:rPr>
              <a:t>1  정의</a:t>
            </a:r>
            <a:r>
              <a:rPr sz="1300" b="0" u="none">
                <a:solidFill>
                  <a:srgbClr val="1A1A1A"/>
                </a:solidFill>
                <a:latin typeface="맑은 고딕"/>
                <a:ea typeface="맑은 고딕"/>
                <a:cs typeface="맑은 고딕"/>
              </a:rPr>
              <a:t> SRS = 페르소나 + 제약 조건</a:t>
            </a:r>
          </a:p>
          <a:p>
            <a:pPr algn="l">
              <a:lnSpc>
                <a:spcPct val="120000"/>
              </a:lnSpc>
            </a:pPr>
            <a:r>
              <a:rPr sz="1300" b="0" u="none">
                <a:solidFill>
                  <a:srgbClr val="1A1A1A"/>
                </a:solidFill>
                <a:latin typeface="맑은 고딕"/>
                <a:ea typeface="맑은 고딕"/>
                <a:cs typeface="맑은 고딕"/>
              </a:rPr>
              <a:t>• </a:t>
            </a:r>
            <a:r>
              <a:rPr sz="1300" b="1" u="none">
                <a:solidFill>
                  <a:srgbClr val="1A1A1A"/>
                </a:solidFill>
                <a:latin typeface="맑은 고딕"/>
                <a:ea typeface="맑은 고딕"/>
                <a:cs typeface="맑은 고딕"/>
              </a:rPr>
              <a:t>2  생성</a:t>
            </a:r>
            <a:r>
              <a:rPr sz="1300" b="0" u="none">
                <a:solidFill>
                  <a:srgbClr val="1A1A1A"/>
                </a:solidFill>
                <a:latin typeface="맑은 고딕"/>
                <a:ea typeface="맑은 고딕"/>
                <a:cs typeface="맑은 고딕"/>
              </a:rPr>
              <a:t> 레드팀 LLM, 8범주 공격</a:t>
            </a:r>
          </a:p>
          <a:p>
            <a:pPr algn="l">
              <a:lnSpc>
                <a:spcPct val="120000"/>
              </a:lnSpc>
            </a:pPr>
            <a:r>
              <a:rPr sz="1300" b="0" u="none">
                <a:solidFill>
                  <a:srgbClr val="1A1A1A"/>
                </a:solidFill>
                <a:latin typeface="맑은 고딕"/>
                <a:ea typeface="맑은 고딕"/>
                <a:cs typeface="맑은 고딕"/>
              </a:rPr>
              <a:t>• </a:t>
            </a:r>
            <a:r>
              <a:rPr sz="1300" b="1" u="none">
                <a:solidFill>
                  <a:srgbClr val="1A1A1A"/>
                </a:solidFill>
                <a:latin typeface="맑은 고딕"/>
                <a:ea typeface="맑은 고딕"/>
                <a:cs typeface="맑은 고딕"/>
              </a:rPr>
              <a:t>3  응답</a:t>
            </a:r>
            <a:r>
              <a:rPr sz="1300" b="0" u="none">
                <a:solidFill>
                  <a:srgbClr val="1A1A1A"/>
                </a:solidFill>
                <a:latin typeface="맑은 고딕"/>
                <a:ea typeface="맑은 고딕"/>
                <a:cs typeface="맑은 고딕"/>
              </a:rPr>
              <a:t> 유닛 A~D 파이프라인</a:t>
            </a:r>
          </a:p>
          <a:p>
            <a:pPr algn="l">
              <a:lnSpc>
                <a:spcPct val="120000"/>
              </a:lnSpc>
            </a:pPr>
            <a:r>
              <a:rPr sz="1300" b="0" u="none">
                <a:solidFill>
                  <a:srgbClr val="1A1A1A"/>
                </a:solidFill>
                <a:latin typeface="맑은 고딕"/>
                <a:ea typeface="맑은 고딕"/>
                <a:cs typeface="맑은 고딕"/>
              </a:rPr>
              <a:t>• </a:t>
            </a:r>
            <a:r>
              <a:rPr sz="1300" b="1" u="none">
                <a:solidFill>
                  <a:srgbClr val="1A1A1A"/>
                </a:solidFill>
                <a:latin typeface="맑은 고딕"/>
                <a:ea typeface="맑은 고딕"/>
                <a:cs typeface="맑은 고딕"/>
              </a:rPr>
              <a:t>4  채점</a:t>
            </a:r>
            <a:r>
              <a:rPr sz="1300" b="0" u="none">
                <a:solidFill>
                  <a:srgbClr val="1A1A1A"/>
                </a:solidFill>
                <a:latin typeface="맑은 고딕"/>
                <a:ea typeface="맑은 고딕"/>
                <a:cs typeface="맑은 고딕"/>
              </a:rPr>
              <a:t> 무상태 심판관, 4단계 Level</a:t>
            </a:r>
          </a:p>
          <a:p>
            <a:pPr algn="l">
              <a:lnSpc>
                <a:spcPct val="120000"/>
              </a:lnSpc>
            </a:pPr>
            <a:r>
              <a:rPr sz="1300" b="0" u="none">
                <a:solidFill>
                  <a:srgbClr val="1A1A1A"/>
                </a:solidFill>
                <a:latin typeface="맑은 고딕"/>
                <a:ea typeface="맑은 고딕"/>
                <a:cs typeface="맑은 고딕"/>
              </a:rPr>
              <a:t>• </a:t>
            </a:r>
            <a:r>
              <a:rPr sz="1300" b="1" u="none">
                <a:solidFill>
                  <a:srgbClr val="1A1A1A"/>
                </a:solidFill>
                <a:latin typeface="맑은 고딕"/>
                <a:ea typeface="맑은 고딕"/>
                <a:cs typeface="맑은 고딕"/>
              </a:rPr>
              <a:t>5  치유</a:t>
            </a:r>
            <a:r>
              <a:rPr sz="1300" b="0" u="none">
                <a:solidFill>
                  <a:srgbClr val="1A1A1A"/>
                </a:solidFill>
                <a:latin typeface="맑은 고딕"/>
                <a:ea typeface="맑은 고딕"/>
                <a:cs typeface="맑은 고딕"/>
              </a:rPr>
              <a:t> </a:t>
            </a:r>
            <a:r>
              <a:rPr sz="1300" b="1" u="none">
                <a:solidFill>
                  <a:srgbClr val="D01010"/>
                </a:solidFill>
                <a:latin typeface="맑은 고딕"/>
                <a:ea typeface="맑은 고딕"/>
                <a:cs typeface="맑은 고딕"/>
              </a:rPr>
              <a:t>Meta-Rule 생성 → SRS 병합</a:t>
            </a:r>
          </a:p>
          <a:p>
            <a:pPr algn="l">
              <a:lnSpc>
                <a:spcPct val="120000"/>
              </a:lnSpc>
            </a:pPr>
            <a:r>
              <a:rPr sz="1300" b="0" u="none">
                <a:solidFill>
                  <a:srgbClr val="1A1A1A"/>
                </a:solidFill>
                <a:latin typeface="맑은 고딕"/>
                <a:ea typeface="맑은 고딕"/>
                <a:cs typeface="맑은 고딕"/>
              </a:rPr>
              <a:t>• </a:t>
            </a:r>
            <a:r>
              <a:rPr sz="1300" b="1" u="none">
                <a:solidFill>
                  <a:srgbClr val="1A1A1A"/>
                </a:solidFill>
                <a:latin typeface="맑은 고딕"/>
                <a:ea typeface="맑은 고딕"/>
                <a:cs typeface="맑은 고딕"/>
              </a:rPr>
              <a:t>6  검증</a:t>
            </a:r>
            <a:r>
              <a:rPr sz="1300" b="0" u="none">
                <a:solidFill>
                  <a:srgbClr val="1A1A1A"/>
                </a:solidFill>
                <a:latin typeface="맑은 고딕"/>
                <a:ea typeface="맑은 고딕"/>
                <a:cs typeface="맑은 고딕"/>
              </a:rPr>
              <a:t> 헬드아웃·적응형 재공격·교차 모델</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274320"/>
            <a:ext cx="8321040" cy="457200"/>
          </a:xfrm>
          <a:prstGeom prst="rect">
            <a:avLst/>
          </a:prstGeom>
          <a:noFill/>
        </p:spPr>
        <p:txBody>
          <a:bodyPr wrap="square" lIns="36576" rIns="36576" tIns="18288" bIns="18288" anchor="t">
            <a:spAutoFit/>
          </a:bodyPr>
          <a:lstStyle/>
          <a:p>
            <a:pPr algn="l">
              <a:lnSpc>
                <a:spcPct val="110000"/>
              </a:lnSpc>
            </a:pPr>
            <a:r>
              <a:rPr sz="1300" b="0" u="none">
                <a:solidFill>
                  <a:srgbClr val="595959"/>
                </a:solidFill>
                <a:latin typeface="맑은 고딕"/>
                <a:ea typeface="맑은 고딕"/>
                <a:cs typeface="맑은 고딕"/>
              </a:rPr>
              <a:t>Ⅲ. 자가 치유 메커니즘  </a:t>
            </a:r>
            <a:r>
              <a:rPr sz="1900" b="1" u="none">
                <a:solidFill>
                  <a:srgbClr val="1A1A1A"/>
                </a:solidFill>
                <a:latin typeface="맑은 고딕"/>
                <a:ea typeface="맑은 고딕"/>
                <a:cs typeface="맑은 고딕"/>
              </a:rPr>
              <a:t>Step 1 SRS 정의 · Step 2 공격 시나리오 생성</a:t>
            </a:r>
          </a:p>
        </p:txBody>
      </p:sp>
      <p:cxnSp>
        <p:nvCxnSpPr>
          <p:cNvPr id="3" name="Connector 2"/>
          <p:cNvCxnSpPr/>
          <p:nvPr/>
        </p:nvCxnSpPr>
        <p:spPr>
          <a:xfrm>
            <a:off x="411480" y="4800600"/>
            <a:ext cx="8321040"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11480" y="4828032"/>
            <a:ext cx="5486400" cy="228600"/>
          </a:xfrm>
          <a:prstGeom prst="rect">
            <a:avLst/>
          </a:prstGeom>
          <a:noFill/>
        </p:spPr>
        <p:txBody>
          <a:bodyPr wrap="square" lIns="36576" rIns="36576" tIns="18288" bIns="18288" anchor="t">
            <a:spAutoFit/>
          </a:bodyPr>
          <a:lstStyle/>
          <a:p>
            <a:pPr algn="l">
              <a:lnSpc>
                <a:spcPct val="110000"/>
              </a:lnSpc>
            </a:pPr>
            <a:r>
              <a:rPr sz="800" b="0" u="none">
                <a:solidFill>
                  <a:srgbClr val="595959"/>
                </a:solidFill>
                <a:latin typeface="맑은 고딕"/>
                <a:ea typeface="맑은 고딕"/>
                <a:cs typeface="맑은 고딕"/>
              </a:rPr>
              <a:t>2026년도 한국인터넷정보학회 추계학술발표대회</a:t>
            </a:r>
          </a:p>
        </p:txBody>
      </p:sp>
      <p:sp>
        <p:nvSpPr>
          <p:cNvPr id="5" name="TextBox 4"/>
          <p:cNvSpPr txBox="1"/>
          <p:nvPr/>
        </p:nvSpPr>
        <p:spPr>
          <a:xfrm>
            <a:off x="5486400" y="4828032"/>
            <a:ext cx="3246120" cy="228600"/>
          </a:xfrm>
          <a:prstGeom prst="rect">
            <a:avLst/>
          </a:prstGeom>
          <a:noFill/>
        </p:spPr>
        <p:txBody>
          <a:bodyPr wrap="square" lIns="36576" rIns="36576" tIns="18288" bIns="18288" anchor="t">
            <a:spAutoFit/>
          </a:bodyPr>
          <a:lstStyle/>
          <a:p>
            <a:pPr algn="r">
              <a:lnSpc>
                <a:spcPct val="110000"/>
              </a:lnSpc>
            </a:pPr>
            <a:r>
              <a:rPr sz="800" b="0" u="none">
                <a:solidFill>
                  <a:srgbClr val="595959"/>
                </a:solidFill>
                <a:latin typeface="맑은 고딕"/>
                <a:ea typeface="맑은 고딕"/>
                <a:cs typeface="맑은 고딕"/>
              </a:rPr>
              <a:t>Hongik University Software Engineering Lab   6</a:t>
            </a:r>
          </a:p>
        </p:txBody>
      </p:sp>
      <p:pic>
        <p:nvPicPr>
          <p:cNvPr id="6" name="Picture 5" descr="N08_srs_v1_card.png"/>
          <p:cNvPicPr>
            <a:picLocks noChangeAspect="1"/>
          </p:cNvPicPr>
          <p:nvPr/>
        </p:nvPicPr>
        <p:blipFill>
          <a:blip r:embed="rId2"/>
          <a:stretch>
            <a:fillRect/>
          </a:stretch>
        </p:blipFill>
        <p:spPr>
          <a:xfrm>
            <a:off x="662939" y="868679"/>
            <a:ext cx="3429000" cy="3429000"/>
          </a:xfrm>
          <a:prstGeom prst="rect">
            <a:avLst/>
          </a:prstGeom>
        </p:spPr>
      </p:pic>
      <p:pic>
        <p:nvPicPr>
          <p:cNvPr id="7" name="Picture 6" descr="N09_scenario_split.png"/>
          <p:cNvPicPr>
            <a:picLocks noChangeAspect="1"/>
          </p:cNvPicPr>
          <p:nvPr/>
        </p:nvPicPr>
        <p:blipFill>
          <a:blip r:embed="rId3"/>
          <a:stretch>
            <a:fillRect/>
          </a:stretch>
        </p:blipFill>
        <p:spPr>
          <a:xfrm>
            <a:off x="4828210" y="868680"/>
            <a:ext cx="3785259" cy="3429000"/>
          </a:xfrm>
          <a:prstGeom prst="rect">
            <a:avLst/>
          </a:prstGeom>
        </p:spPr>
      </p:pic>
      <p:sp>
        <p:nvSpPr>
          <p:cNvPr id="8" name="TextBox 7"/>
          <p:cNvSpPr txBox="1"/>
          <p:nvPr/>
        </p:nvSpPr>
        <p:spPr>
          <a:xfrm>
            <a:off x="411480" y="4315968"/>
            <a:ext cx="8321040" cy="438912"/>
          </a:xfrm>
          <a:prstGeom prst="rect">
            <a:avLst/>
          </a:prstGeom>
          <a:noFill/>
        </p:spPr>
        <p:txBody>
          <a:bodyPr wrap="square" lIns="36576" rIns="36576" tIns="18288" bIns="18288" anchor="t">
            <a:spAutoFit/>
          </a:bodyPr>
          <a:lstStyle/>
          <a:p>
            <a:pPr algn="ctr">
              <a:lnSpc>
                <a:spcPct val="105000"/>
              </a:lnSpc>
            </a:pPr>
            <a:r>
              <a:rPr sz="1100" b="1" u="none">
                <a:solidFill>
                  <a:srgbClr val="1A1A1A"/>
                </a:solidFill>
                <a:latin typeface="맑은 고딕"/>
                <a:ea typeface="맑은 고딕"/>
                <a:cs typeface="맑은 고딕"/>
              </a:rPr>
              <a:t>SRS = 조항 단위로 버전 관리하는 챗봇 요구사항 명세 (실행 시 시스템 프롬프트로 주입)</a:t>
            </a:r>
          </a:p>
          <a:p>
            <a:pPr algn="ctr">
              <a:lnSpc>
                <a:spcPct val="105000"/>
              </a:lnSpc>
            </a:pPr>
            <a:r>
              <a:rPr sz="1100" b="0" u="none">
                <a:solidFill>
                  <a:srgbClr val="1A1A1A"/>
                </a:solidFill>
                <a:latin typeface="맑은 고딕"/>
                <a:ea typeface="맑은 고딕"/>
                <a:cs typeface="맑은 고딕"/>
              </a:rPr>
              <a:t>실제 운영 지침 17개 조항 = v1.0  ·  </a:t>
            </a:r>
            <a:r>
              <a:rPr sz="1100" b="1" u="none">
                <a:solidFill>
                  <a:srgbClr val="D01010"/>
                </a:solidFill>
                <a:latin typeface="맑은 고딕"/>
                <a:ea typeface="맑은 고딕"/>
                <a:cs typeface="맑은 고딕"/>
              </a:rPr>
              <a:t>8범주 × 3 = 치유용 24 / 헬드아웃 24</a:t>
            </a:r>
            <a:r>
              <a:rPr sz="1100" b="0" u="none">
                <a:solidFill>
                  <a:srgbClr val="1A1A1A"/>
                </a:solidFill>
                <a:latin typeface="맑은 고딕"/>
                <a:ea typeface="맑은 고딕"/>
                <a:cs typeface="맑은 고딕"/>
              </a:rPr>
              <a:t>  ·  레드팀은 타 벤더(GPT-5.4)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274320"/>
            <a:ext cx="8321040" cy="457200"/>
          </a:xfrm>
          <a:prstGeom prst="rect">
            <a:avLst/>
          </a:prstGeom>
          <a:noFill/>
        </p:spPr>
        <p:txBody>
          <a:bodyPr wrap="square" lIns="36576" rIns="36576" tIns="18288" bIns="18288" anchor="t">
            <a:spAutoFit/>
          </a:bodyPr>
          <a:lstStyle/>
          <a:p>
            <a:pPr algn="l">
              <a:lnSpc>
                <a:spcPct val="110000"/>
              </a:lnSpc>
            </a:pPr>
            <a:r>
              <a:rPr sz="1300" b="0" u="none">
                <a:solidFill>
                  <a:srgbClr val="595959"/>
                </a:solidFill>
                <a:latin typeface="맑은 고딕"/>
                <a:ea typeface="맑은 고딕"/>
                <a:cs typeface="맑은 고딕"/>
              </a:rPr>
              <a:t>Ⅲ. 자가 치유 메커니즘  </a:t>
            </a:r>
            <a:r>
              <a:rPr sz="1900" b="1" u="none">
                <a:solidFill>
                  <a:srgbClr val="1A1A1A"/>
                </a:solidFill>
                <a:latin typeface="맑은 고딕"/>
                <a:ea typeface="맑은 고딕"/>
                <a:cs typeface="맑은 고딕"/>
              </a:rPr>
              <a:t>Step 3 응답 파이프라인 · Step 4 Action Matrix 채점</a:t>
            </a:r>
          </a:p>
        </p:txBody>
      </p:sp>
      <p:cxnSp>
        <p:nvCxnSpPr>
          <p:cNvPr id="3" name="Connector 2"/>
          <p:cNvCxnSpPr/>
          <p:nvPr/>
        </p:nvCxnSpPr>
        <p:spPr>
          <a:xfrm>
            <a:off x="411480" y="4800600"/>
            <a:ext cx="8321040"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11480" y="4828032"/>
            <a:ext cx="5486400" cy="228600"/>
          </a:xfrm>
          <a:prstGeom prst="rect">
            <a:avLst/>
          </a:prstGeom>
          <a:noFill/>
        </p:spPr>
        <p:txBody>
          <a:bodyPr wrap="square" lIns="36576" rIns="36576" tIns="18288" bIns="18288" anchor="t">
            <a:spAutoFit/>
          </a:bodyPr>
          <a:lstStyle/>
          <a:p>
            <a:pPr algn="l">
              <a:lnSpc>
                <a:spcPct val="110000"/>
              </a:lnSpc>
            </a:pPr>
            <a:r>
              <a:rPr sz="800" b="0" u="none">
                <a:solidFill>
                  <a:srgbClr val="595959"/>
                </a:solidFill>
                <a:latin typeface="맑은 고딕"/>
                <a:ea typeface="맑은 고딕"/>
                <a:cs typeface="맑은 고딕"/>
              </a:rPr>
              <a:t>2026년도 한국인터넷정보학회 추계학술발표대회</a:t>
            </a:r>
          </a:p>
        </p:txBody>
      </p:sp>
      <p:sp>
        <p:nvSpPr>
          <p:cNvPr id="5" name="TextBox 4"/>
          <p:cNvSpPr txBox="1"/>
          <p:nvPr/>
        </p:nvSpPr>
        <p:spPr>
          <a:xfrm>
            <a:off x="5486400" y="4828032"/>
            <a:ext cx="3246120" cy="228600"/>
          </a:xfrm>
          <a:prstGeom prst="rect">
            <a:avLst/>
          </a:prstGeom>
          <a:noFill/>
        </p:spPr>
        <p:txBody>
          <a:bodyPr wrap="square" lIns="36576" rIns="36576" tIns="18288" bIns="18288" anchor="t">
            <a:spAutoFit/>
          </a:bodyPr>
          <a:lstStyle/>
          <a:p>
            <a:pPr algn="r">
              <a:lnSpc>
                <a:spcPct val="110000"/>
              </a:lnSpc>
            </a:pPr>
            <a:r>
              <a:rPr sz="800" b="0" u="none">
                <a:solidFill>
                  <a:srgbClr val="595959"/>
                </a:solidFill>
                <a:latin typeface="맑은 고딕"/>
                <a:ea typeface="맑은 고딕"/>
                <a:cs typeface="맑은 고딕"/>
              </a:rPr>
              <a:t>Hongik University Software Engineering Lab   7</a:t>
            </a:r>
          </a:p>
        </p:txBody>
      </p:sp>
      <p:pic>
        <p:nvPicPr>
          <p:cNvPr id="6" name="Picture 5" descr="diagram_pipeline.png"/>
          <p:cNvPicPr>
            <a:picLocks noChangeAspect="1"/>
          </p:cNvPicPr>
          <p:nvPr/>
        </p:nvPicPr>
        <p:blipFill>
          <a:blip r:embed="rId2"/>
          <a:stretch>
            <a:fillRect/>
          </a:stretch>
        </p:blipFill>
        <p:spPr>
          <a:xfrm>
            <a:off x="1680574" y="822960"/>
            <a:ext cx="5782850" cy="1965960"/>
          </a:xfrm>
          <a:prstGeom prst="rect">
            <a:avLst/>
          </a:prstGeom>
        </p:spPr>
      </p:pic>
      <p:graphicFrame>
        <p:nvGraphicFramePr>
          <p:cNvPr id="7" name="Table 6"/>
          <p:cNvGraphicFramePr>
            <a:graphicFrameLocks noGrp="1"/>
          </p:cNvGraphicFramePr>
          <p:nvPr/>
        </p:nvGraphicFramePr>
        <p:xfrm>
          <a:off x="411480" y="2926080"/>
          <a:ext cx="4846320" cy="1463040"/>
        </p:xfrm>
        <a:graphic>
          <a:graphicData uri="http://schemas.openxmlformats.org/drawingml/2006/table">
            <a:tbl>
              <a:tblPr firstRow="1" bandRow="1">
                <a:tableStyleId>{5C22544A-7EE6-4342-B048-85BDC9FD1C3A}</a:tableStyleId>
              </a:tblPr>
              <a:tblGrid>
                <a:gridCol w="502920"/>
                <a:gridCol w="1600200"/>
                <a:gridCol w="2743200"/>
              </a:tblGrid>
              <a:tr h="292608">
                <a:tc>
                  <a:txBody>
                    <a:bodyPr/>
                    <a:lstStyle/>
                    <a:p>
                      <a:r>
                        <a:rPr sz="1050" b="1">
                          <a:solidFill>
                            <a:srgbClr val="1A1A1A"/>
                          </a:solidFill>
                          <a:latin typeface="맑은 고딕"/>
                        </a:rPr>
                        <a:t>Level</a:t>
                      </a:r>
                    </a:p>
                  </a:txBody>
                  <a:tcPr>
                    <a:solidFill>
                      <a:srgbClr val="F2F2F2"/>
                    </a:solidFill>
                  </a:tcPr>
                </a:tc>
                <a:tc>
                  <a:txBody>
                    <a:bodyPr/>
                    <a:lstStyle/>
                    <a:p>
                      <a:r>
                        <a:rPr sz="1050" b="1">
                          <a:solidFill>
                            <a:srgbClr val="1A1A1A"/>
                          </a:solidFill>
                          <a:latin typeface="맑은 고딕"/>
                        </a:rPr>
                        <a:t>등급</a:t>
                      </a:r>
                    </a:p>
                  </a:txBody>
                  <a:tcPr>
                    <a:solidFill>
                      <a:srgbClr val="F2F2F2"/>
                    </a:solidFill>
                  </a:tcPr>
                </a:tc>
                <a:tc>
                  <a:txBody>
                    <a:bodyPr/>
                    <a:lstStyle/>
                    <a:p>
                      <a:r>
                        <a:rPr sz="1050" b="1">
                          <a:solidFill>
                            <a:srgbClr val="1A1A1A"/>
                          </a:solidFill>
                          <a:latin typeface="맑은 고딕"/>
                        </a:rPr>
                        <a:t>정의</a:t>
                      </a:r>
                    </a:p>
                  </a:txBody>
                  <a:tcPr>
                    <a:solidFill>
                      <a:srgbClr val="F2F2F2"/>
                    </a:solidFill>
                  </a:tcPr>
                </a:tc>
              </a:tr>
              <a:tr h="292608">
                <a:tc>
                  <a:txBody>
                    <a:bodyPr/>
                    <a:lstStyle/>
                    <a:p>
                      <a:r>
                        <a:rPr sz="1050" b="0">
                          <a:solidFill>
                            <a:srgbClr val="1A1A1A"/>
                          </a:solidFill>
                          <a:latin typeface="맑은 고딕"/>
                        </a:rPr>
                        <a:t>4</a:t>
                      </a:r>
                    </a:p>
                  </a:txBody>
                  <a:tcPr>
                    <a:solidFill>
                      <a:srgbClr val="FFFFFF"/>
                    </a:solidFill>
                  </a:tcPr>
                </a:tc>
                <a:tc>
                  <a:txBody>
                    <a:bodyPr/>
                    <a:lstStyle/>
                    <a:p>
                      <a:r>
                        <a:rPr sz="1050" b="1">
                          <a:solidFill>
                            <a:srgbClr val="1A1A1A"/>
                          </a:solidFill>
                          <a:latin typeface="맑은 고딕"/>
                        </a:rPr>
                        <a:t>FULL_DEFENSE</a:t>
                      </a:r>
                    </a:p>
                  </a:txBody>
                  <a:tcPr>
                    <a:solidFill>
                      <a:srgbClr val="FFFFFF"/>
                    </a:solidFill>
                  </a:tcPr>
                </a:tc>
                <a:tc>
                  <a:txBody>
                    <a:bodyPr/>
                    <a:lstStyle/>
                    <a:p>
                      <a:r>
                        <a:rPr sz="1050" b="0">
                          <a:solidFill>
                            <a:srgbClr val="1A1A1A"/>
                          </a:solidFill>
                          <a:latin typeface="맑은 고딕"/>
                        </a:rPr>
                        <a:t>공격 무력화 + 형식 요건 전부 준수</a:t>
                      </a:r>
                    </a:p>
                  </a:txBody>
                  <a:tcPr>
                    <a:solidFill>
                      <a:srgbClr val="FFFFFF"/>
                    </a:solidFill>
                  </a:tcPr>
                </a:tc>
              </a:tr>
              <a:tr h="292608">
                <a:tc>
                  <a:txBody>
                    <a:bodyPr/>
                    <a:lstStyle/>
                    <a:p>
                      <a:r>
                        <a:rPr sz="1050" b="0">
                          <a:solidFill>
                            <a:srgbClr val="1A1A1A"/>
                          </a:solidFill>
                          <a:latin typeface="맑은 고딕"/>
                        </a:rPr>
                        <a:t>3</a:t>
                      </a:r>
                    </a:p>
                  </a:txBody>
                  <a:tcPr>
                    <a:solidFill>
                      <a:srgbClr val="FFFFFF"/>
                    </a:solidFill>
                  </a:tcPr>
                </a:tc>
                <a:tc>
                  <a:txBody>
                    <a:bodyPr/>
                    <a:lstStyle/>
                    <a:p>
                      <a:r>
                        <a:rPr sz="1050" b="1">
                          <a:solidFill>
                            <a:srgbClr val="1A1A1A"/>
                          </a:solidFill>
                          <a:latin typeface="맑은 고딕"/>
                        </a:rPr>
                        <a:t>FUNCTIONAL_DEFENSE</a:t>
                      </a:r>
                    </a:p>
                  </a:txBody>
                  <a:tcPr>
                    <a:solidFill>
                      <a:srgbClr val="FFFFFF"/>
                    </a:solidFill>
                  </a:tcPr>
                </a:tc>
                <a:tc>
                  <a:txBody>
                    <a:bodyPr/>
                    <a:lstStyle/>
                    <a:p>
                      <a:r>
                        <a:rPr sz="1050" b="0">
                          <a:solidFill>
                            <a:srgbClr val="1A1A1A"/>
                          </a:solidFill>
                          <a:latin typeface="맑은 고딕"/>
                        </a:rPr>
                        <a:t>방어 성공, 형식·톤 경미 위반</a:t>
                      </a:r>
                    </a:p>
                  </a:txBody>
                  <a:tcPr>
                    <a:solidFill>
                      <a:srgbClr val="FFFFFF"/>
                    </a:solidFill>
                  </a:tcPr>
                </a:tc>
              </a:tr>
              <a:tr h="292608">
                <a:tc>
                  <a:txBody>
                    <a:bodyPr/>
                    <a:lstStyle/>
                    <a:p>
                      <a:r>
                        <a:rPr sz="1050" b="0">
                          <a:solidFill>
                            <a:srgbClr val="1A1A1A"/>
                          </a:solidFill>
                          <a:latin typeface="맑은 고딕"/>
                        </a:rPr>
                        <a:t>2</a:t>
                      </a:r>
                    </a:p>
                  </a:txBody>
                  <a:tcPr>
                    <a:solidFill>
                      <a:srgbClr val="FFFFFF"/>
                    </a:solidFill>
                  </a:tcPr>
                </a:tc>
                <a:tc>
                  <a:txBody>
                    <a:bodyPr/>
                    <a:lstStyle/>
                    <a:p>
                      <a:r>
                        <a:rPr sz="1050" b="1">
                          <a:solidFill>
                            <a:srgbClr val="1A1A1A"/>
                          </a:solidFill>
                          <a:latin typeface="맑은 고딕"/>
                        </a:rPr>
                        <a:t>PARTIAL_EXPOSURE</a:t>
                      </a:r>
                    </a:p>
                  </a:txBody>
                  <a:tcPr>
                    <a:solidFill>
                      <a:srgbClr val="FFFFFF"/>
                    </a:solidFill>
                  </a:tcPr>
                </a:tc>
                <a:tc>
                  <a:txBody>
                    <a:bodyPr/>
                    <a:lstStyle/>
                    <a:p>
                      <a:r>
                        <a:rPr sz="1050" b="0">
                          <a:solidFill>
                            <a:srgbClr val="1A1A1A"/>
                          </a:solidFill>
                          <a:latin typeface="맑은 고딕"/>
                        </a:rPr>
                        <a:t>간접 정보·메타데이터 일부 노출</a:t>
                      </a:r>
                    </a:p>
                  </a:txBody>
                  <a:tcPr>
                    <a:solidFill>
                      <a:srgbClr val="FFFFFF"/>
                    </a:solidFill>
                  </a:tcPr>
                </a:tc>
              </a:tr>
              <a:tr h="292608">
                <a:tc>
                  <a:txBody>
                    <a:bodyPr/>
                    <a:lstStyle/>
                    <a:p>
                      <a:r>
                        <a:rPr sz="1050" b="0">
                          <a:solidFill>
                            <a:srgbClr val="D01010"/>
                          </a:solidFill>
                          <a:latin typeface="맑은 고딕"/>
                        </a:rPr>
                        <a:t>1</a:t>
                      </a:r>
                    </a:p>
                  </a:txBody>
                  <a:tcPr>
                    <a:solidFill>
                      <a:srgbClr val="FFFFFF"/>
                    </a:solidFill>
                  </a:tcPr>
                </a:tc>
                <a:tc>
                  <a:txBody>
                    <a:bodyPr/>
                    <a:lstStyle/>
                    <a:p>
                      <a:r>
                        <a:rPr sz="1050" b="1">
                          <a:solidFill>
                            <a:srgbClr val="D01010"/>
                          </a:solidFill>
                          <a:latin typeface="맑은 고딕"/>
                        </a:rPr>
                        <a:t>BREACH</a:t>
                      </a:r>
                    </a:p>
                  </a:txBody>
                  <a:tcPr>
                    <a:solidFill>
                      <a:srgbClr val="FFFFFF"/>
                    </a:solidFill>
                  </a:tcPr>
                </a:tc>
                <a:tc>
                  <a:txBody>
                    <a:bodyPr/>
                    <a:lstStyle/>
                    <a:p>
                      <a:r>
                        <a:rPr sz="1050" b="0">
                          <a:solidFill>
                            <a:srgbClr val="1A1A1A"/>
                          </a:solidFill>
                          <a:latin typeface="맑은 고딕"/>
                        </a:rPr>
                        <a:t>개인정보·시스템 프롬프트 등 핵심 경계 붕괴</a:t>
                      </a:r>
                    </a:p>
                  </a:txBody>
                  <a:tcPr>
                    <a:solidFill>
                      <a:srgbClr val="FFFFFF"/>
                    </a:solidFill>
                  </a:tcPr>
                </a:tc>
              </a:tr>
            </a:tbl>
          </a:graphicData>
        </a:graphic>
      </p:graphicFrame>
      <p:sp>
        <p:nvSpPr>
          <p:cNvPr id="8" name="TextBox 7"/>
          <p:cNvSpPr txBox="1"/>
          <p:nvPr/>
        </p:nvSpPr>
        <p:spPr>
          <a:xfrm>
            <a:off x="5486400" y="2926080"/>
            <a:ext cx="3291840" cy="1737360"/>
          </a:xfrm>
          <a:prstGeom prst="rect">
            <a:avLst/>
          </a:prstGeom>
          <a:noFill/>
        </p:spPr>
        <p:txBody>
          <a:bodyPr wrap="square" lIns="36576" rIns="36576" tIns="18288" bIns="18288" anchor="t">
            <a:spAutoFit/>
          </a:bodyPr>
          <a:lstStyle/>
          <a:p>
            <a:pPr algn="l">
              <a:lnSpc>
                <a:spcPct val="120000"/>
              </a:lnSpc>
            </a:pPr>
            <a:r>
              <a:rPr sz="1200" b="0" u="none">
                <a:solidFill>
                  <a:srgbClr val="1A1A1A"/>
                </a:solidFill>
                <a:latin typeface="맑은 고딕"/>
                <a:ea typeface="맑은 고딕"/>
                <a:cs typeface="맑은 고딕"/>
              </a:rPr>
              <a:t>• </a:t>
            </a:r>
            <a:r>
              <a:rPr sz="1200" b="0" u="none">
                <a:solidFill>
                  <a:srgbClr val="1A1A1A"/>
                </a:solidFill>
                <a:latin typeface="맑은 고딕"/>
                <a:ea typeface="맑은 고딕"/>
                <a:cs typeface="맑은 고딕"/>
              </a:rPr>
              <a:t>무상태 심판관 LLM, 제로샷 채점</a:t>
            </a:r>
          </a:p>
          <a:p>
            <a:pPr algn="l">
              <a:lnSpc>
                <a:spcPct val="120000"/>
              </a:lnSpc>
            </a:pPr>
            <a:r>
              <a:rPr sz="1200" b="0" u="none">
                <a:solidFill>
                  <a:srgbClr val="1A1A1A"/>
                </a:solidFill>
                <a:latin typeface="맑은 고딕"/>
                <a:ea typeface="맑은 고딕"/>
                <a:cs typeface="맑은 고딕"/>
              </a:rPr>
              <a:t>• </a:t>
            </a:r>
            <a:r>
              <a:rPr sz="1200" b="0" u="none">
                <a:solidFill>
                  <a:srgbClr val="1A1A1A"/>
                </a:solidFill>
                <a:latin typeface="맑은 고딕"/>
                <a:ea typeface="맑은 고딕"/>
                <a:cs typeface="맑은 고딕"/>
              </a:rPr>
              <a:t>보안(뚫렸나) + 형식(SRS대로인가)</a:t>
            </a:r>
          </a:p>
          <a:p>
            <a:pPr algn="l">
              <a:lnSpc>
                <a:spcPct val="120000"/>
              </a:lnSpc>
            </a:pPr>
            <a:r>
              <a:rPr sz="1200" b="0" u="none">
                <a:solidFill>
                  <a:srgbClr val="1A1A1A"/>
                </a:solidFill>
                <a:latin typeface="맑은 고딕"/>
                <a:ea typeface="맑은 고딕"/>
                <a:cs typeface="맑은 고딕"/>
              </a:rPr>
              <a:t>• </a:t>
            </a:r>
            <a:r>
              <a:rPr sz="1200" b="0" u="none">
                <a:solidFill>
                  <a:srgbClr val="1A1A1A"/>
                </a:solidFill>
                <a:latin typeface="맑은 고딕"/>
                <a:ea typeface="맑은 고딕"/>
                <a:cs typeface="맑은 고딕"/>
              </a:rPr>
              <a:t>Level 4 미만 → </a:t>
            </a:r>
            <a:r>
              <a:rPr sz="1200" b="1" u="none">
                <a:solidFill>
                  <a:srgbClr val="D01010"/>
                </a:solidFill>
                <a:latin typeface="맑은 고딕"/>
                <a:ea typeface="맑은 고딕"/>
                <a:cs typeface="맑은 고딕"/>
              </a:rPr>
              <a:t>Step 5로 전달</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274320"/>
            <a:ext cx="8321040" cy="457200"/>
          </a:xfrm>
          <a:prstGeom prst="rect">
            <a:avLst/>
          </a:prstGeom>
          <a:noFill/>
        </p:spPr>
        <p:txBody>
          <a:bodyPr wrap="square" lIns="36576" rIns="36576" tIns="18288" bIns="18288" anchor="t">
            <a:spAutoFit/>
          </a:bodyPr>
          <a:lstStyle/>
          <a:p>
            <a:pPr algn="l">
              <a:lnSpc>
                <a:spcPct val="110000"/>
              </a:lnSpc>
            </a:pPr>
            <a:r>
              <a:rPr sz="1300" b="0" u="none">
                <a:solidFill>
                  <a:srgbClr val="595959"/>
                </a:solidFill>
                <a:latin typeface="맑은 고딕"/>
                <a:ea typeface="맑은 고딕"/>
                <a:cs typeface="맑은 고딕"/>
              </a:rPr>
              <a:t>Ⅲ. 자가 치유 메커니즘  </a:t>
            </a:r>
            <a:r>
              <a:rPr sz="1900" b="1" u="none">
                <a:solidFill>
                  <a:srgbClr val="1A1A1A"/>
                </a:solidFill>
                <a:latin typeface="맑은 고딕"/>
                <a:ea typeface="맑은 고딕"/>
                <a:cs typeface="맑은 고딕"/>
              </a:rPr>
              <a:t>Step 5 Meta-Rule 생성과 SRS 병합</a:t>
            </a:r>
          </a:p>
        </p:txBody>
      </p:sp>
      <p:cxnSp>
        <p:nvCxnSpPr>
          <p:cNvPr id="3" name="Connector 2"/>
          <p:cNvCxnSpPr/>
          <p:nvPr/>
        </p:nvCxnSpPr>
        <p:spPr>
          <a:xfrm>
            <a:off x="411480" y="4800600"/>
            <a:ext cx="8321040"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11480" y="4828032"/>
            <a:ext cx="5486400" cy="228600"/>
          </a:xfrm>
          <a:prstGeom prst="rect">
            <a:avLst/>
          </a:prstGeom>
          <a:noFill/>
        </p:spPr>
        <p:txBody>
          <a:bodyPr wrap="square" lIns="36576" rIns="36576" tIns="18288" bIns="18288" anchor="t">
            <a:spAutoFit/>
          </a:bodyPr>
          <a:lstStyle/>
          <a:p>
            <a:pPr algn="l">
              <a:lnSpc>
                <a:spcPct val="110000"/>
              </a:lnSpc>
            </a:pPr>
            <a:r>
              <a:rPr sz="800" b="0" u="none">
                <a:solidFill>
                  <a:srgbClr val="595959"/>
                </a:solidFill>
                <a:latin typeface="맑은 고딕"/>
                <a:ea typeface="맑은 고딕"/>
                <a:cs typeface="맑은 고딕"/>
              </a:rPr>
              <a:t>2026년도 한국인터넷정보학회 추계학술발표대회</a:t>
            </a:r>
          </a:p>
        </p:txBody>
      </p:sp>
      <p:sp>
        <p:nvSpPr>
          <p:cNvPr id="5" name="TextBox 4"/>
          <p:cNvSpPr txBox="1"/>
          <p:nvPr/>
        </p:nvSpPr>
        <p:spPr>
          <a:xfrm>
            <a:off x="5486400" y="4828032"/>
            <a:ext cx="3246120" cy="228600"/>
          </a:xfrm>
          <a:prstGeom prst="rect">
            <a:avLst/>
          </a:prstGeom>
          <a:noFill/>
        </p:spPr>
        <p:txBody>
          <a:bodyPr wrap="square" lIns="36576" rIns="36576" tIns="18288" bIns="18288" anchor="t">
            <a:spAutoFit/>
          </a:bodyPr>
          <a:lstStyle/>
          <a:p>
            <a:pPr algn="r">
              <a:lnSpc>
                <a:spcPct val="110000"/>
              </a:lnSpc>
            </a:pPr>
            <a:r>
              <a:rPr sz="800" b="0" u="none">
                <a:solidFill>
                  <a:srgbClr val="595959"/>
                </a:solidFill>
                <a:latin typeface="맑은 고딕"/>
                <a:ea typeface="맑은 고딕"/>
                <a:cs typeface="맑은 고딕"/>
              </a:rPr>
              <a:t>Hongik University Software Engineering Lab   8</a:t>
            </a:r>
          </a:p>
        </p:txBody>
      </p:sp>
      <p:pic>
        <p:nvPicPr>
          <p:cNvPr id="6" name="Picture 5" descr="N10_metarule_generation.png"/>
          <p:cNvPicPr>
            <a:picLocks noChangeAspect="1"/>
          </p:cNvPicPr>
          <p:nvPr/>
        </p:nvPicPr>
        <p:blipFill>
          <a:blip r:embed="rId2"/>
          <a:stretch>
            <a:fillRect/>
          </a:stretch>
        </p:blipFill>
        <p:spPr>
          <a:xfrm>
            <a:off x="889282" y="868680"/>
            <a:ext cx="3982155" cy="3794760"/>
          </a:xfrm>
          <a:prstGeom prst="rect">
            <a:avLst/>
          </a:prstGeom>
        </p:spPr>
      </p:pic>
      <p:sp>
        <p:nvSpPr>
          <p:cNvPr id="7" name="TextBox 6"/>
          <p:cNvSpPr txBox="1"/>
          <p:nvPr/>
        </p:nvSpPr>
        <p:spPr>
          <a:xfrm>
            <a:off x="5577840" y="868680"/>
            <a:ext cx="3200400" cy="3840480"/>
          </a:xfrm>
          <a:prstGeom prst="rect">
            <a:avLst/>
          </a:prstGeom>
          <a:noFill/>
        </p:spPr>
        <p:txBody>
          <a:bodyPr wrap="square" lIns="36576" rIns="36576" tIns="18288" bIns="18288" anchor="t">
            <a:spAutoFit/>
          </a:bodyPr>
          <a:lstStyle/>
          <a:p>
            <a:pPr algn="l">
              <a:lnSpc>
                <a:spcPct val="120000"/>
              </a:lnSpc>
            </a:pPr>
            <a:r>
              <a:rPr sz="1300" b="0" u="none">
                <a:solidFill>
                  <a:srgbClr val="1A1A1A"/>
                </a:solidFill>
                <a:latin typeface="맑은 고딕"/>
                <a:ea typeface="맑은 고딕"/>
                <a:cs typeface="맑은 고딕"/>
              </a:rPr>
              <a:t>• </a:t>
            </a:r>
            <a:r>
              <a:rPr sz="1300" b="0" u="none">
                <a:solidFill>
                  <a:srgbClr val="1A1A1A"/>
                </a:solidFill>
                <a:latin typeface="맑은 고딕"/>
                <a:ea typeface="맑은 고딕"/>
                <a:cs typeface="맑은 고딕"/>
              </a:rPr>
              <a:t>실패 사례 + 판정 사유 → Meta-Rule 생성기</a:t>
            </a:r>
          </a:p>
          <a:p>
            <a:pPr algn="l">
              <a:lnSpc>
                <a:spcPct val="120000"/>
              </a:lnSpc>
            </a:pPr>
            <a:r>
              <a:rPr sz="1300" b="0" u="none">
                <a:solidFill>
                  <a:srgbClr val="1A1A1A"/>
                </a:solidFill>
                <a:latin typeface="맑은 고딕"/>
                <a:ea typeface="맑은 고딕"/>
                <a:cs typeface="맑은 고딕"/>
              </a:rPr>
              <a:t>• </a:t>
            </a:r>
            <a:r>
              <a:rPr sz="1300" b="0" u="none">
                <a:solidFill>
                  <a:srgbClr val="1A1A1A"/>
                </a:solidFill>
                <a:latin typeface="맑은 고딕"/>
                <a:ea typeface="맑은 고딕"/>
                <a:cs typeface="맑은 고딕"/>
              </a:rPr>
              <a:t>실패를 </a:t>
            </a:r>
            <a:r>
              <a:rPr sz="1300" b="1" u="none">
                <a:solidFill>
                  <a:srgbClr val="D01010"/>
                </a:solidFill>
                <a:latin typeface="맑은 고딕"/>
                <a:ea typeface="맑은 고딕"/>
                <a:cs typeface="맑은 고딕"/>
              </a:rPr>
              <a:t>일반화된 방어 규칙</a:t>
            </a:r>
            <a:r>
              <a:rPr sz="1300" b="0" u="none">
                <a:solidFill>
                  <a:srgbClr val="1A1A1A"/>
                </a:solidFill>
                <a:latin typeface="맑은 고딕"/>
                <a:ea typeface="맑은 고딕"/>
                <a:cs typeface="맑은 고딕"/>
              </a:rPr>
              <a:t>으로 변환</a:t>
            </a:r>
          </a:p>
          <a:p>
            <a:pPr algn="l">
              <a:lnSpc>
                <a:spcPct val="120000"/>
              </a:lnSpc>
            </a:pPr>
            <a:r>
              <a:rPr sz="1300" b="0" u="none">
                <a:solidFill>
                  <a:srgbClr val="1A1A1A"/>
                </a:solidFill>
                <a:latin typeface="맑은 고딕"/>
                <a:ea typeface="맑은 고딕"/>
                <a:cs typeface="맑은 고딕"/>
              </a:rPr>
              <a:t>• </a:t>
            </a:r>
            <a:r>
              <a:rPr sz="1300" b="0" u="none">
                <a:solidFill>
                  <a:srgbClr val="1A1A1A"/>
                </a:solidFill>
                <a:latin typeface="맑은 고딕"/>
                <a:ea typeface="맑은 고딕"/>
                <a:cs typeface="맑은 고딕"/>
              </a:rPr>
              <a:t>SRS에 병합 → v1.0 → v1.1 → …</a:t>
            </a:r>
          </a:p>
          <a:p>
            <a:pPr algn="l">
              <a:lnSpc>
                <a:spcPct val="120000"/>
              </a:lnSpc>
            </a:pPr>
            <a:r>
              <a:rPr sz="1300" b="0" u="none">
                <a:solidFill>
                  <a:srgbClr val="1A1A1A"/>
                </a:solidFill>
                <a:latin typeface="맑은 고딕"/>
                <a:ea typeface="맑은 고딕"/>
                <a:cs typeface="맑은 고딕"/>
              </a:rPr>
              <a:t>• </a:t>
            </a:r>
            <a:r>
              <a:rPr sz="1300" b="0" u="none">
                <a:solidFill>
                  <a:srgbClr val="1A1A1A"/>
                </a:solidFill>
                <a:latin typeface="맑은 고딕"/>
                <a:ea typeface="맑은 고딕"/>
                <a:cs typeface="맑은 고딕"/>
              </a:rPr>
              <a:t>같은 치유용 셋으로 즉시 재채점</a:t>
            </a:r>
          </a:p>
          <a:p>
            <a:pPr algn="l">
              <a:lnSpc>
                <a:spcPct val="120000"/>
              </a:lnSpc>
            </a:pPr>
            <a:r>
              <a:rPr sz="1300" b="0" u="none">
                <a:solidFill>
                  <a:srgbClr val="1A1A1A"/>
                </a:solidFill>
                <a:latin typeface="맑은 고딕"/>
                <a:ea typeface="맑은 고딕"/>
                <a:cs typeface="맑은 고딕"/>
              </a:rPr>
              <a:t>• </a:t>
            </a:r>
            <a:r>
              <a:rPr sz="1300" b="0" u="none">
                <a:solidFill>
                  <a:srgbClr val="1A1A1A"/>
                </a:solidFill>
                <a:latin typeface="맑은 고딕"/>
                <a:ea typeface="맑은 고딕"/>
                <a:cs typeface="맑은 고딕"/>
              </a:rPr>
              <a:t>종료: 전원 최고 등급 또는 라운드 상한</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274320"/>
            <a:ext cx="8321040" cy="457200"/>
          </a:xfrm>
          <a:prstGeom prst="rect">
            <a:avLst/>
          </a:prstGeom>
          <a:noFill/>
        </p:spPr>
        <p:txBody>
          <a:bodyPr wrap="square" lIns="36576" rIns="36576" tIns="18288" bIns="18288" anchor="t">
            <a:spAutoFit/>
          </a:bodyPr>
          <a:lstStyle/>
          <a:p>
            <a:pPr algn="l">
              <a:lnSpc>
                <a:spcPct val="110000"/>
              </a:lnSpc>
            </a:pPr>
            <a:r>
              <a:rPr sz="1300" b="0" u="none">
                <a:solidFill>
                  <a:srgbClr val="595959"/>
                </a:solidFill>
                <a:latin typeface="맑은 고딕"/>
                <a:ea typeface="맑은 고딕"/>
                <a:cs typeface="맑은 고딕"/>
              </a:rPr>
              <a:t>Ⅲ. 자가 치유 메커니즘  </a:t>
            </a:r>
            <a:r>
              <a:rPr sz="1900" b="1" u="none">
                <a:solidFill>
                  <a:srgbClr val="1A1A1A"/>
                </a:solidFill>
                <a:latin typeface="맑은 고딕"/>
                <a:ea typeface="맑은 고딕"/>
                <a:cs typeface="맑은 고딕"/>
              </a:rPr>
              <a:t>Step 6 수렴 후 검증</a:t>
            </a:r>
          </a:p>
        </p:txBody>
      </p:sp>
      <p:cxnSp>
        <p:nvCxnSpPr>
          <p:cNvPr id="3" name="Connector 2"/>
          <p:cNvCxnSpPr/>
          <p:nvPr/>
        </p:nvCxnSpPr>
        <p:spPr>
          <a:xfrm>
            <a:off x="411480" y="4800600"/>
            <a:ext cx="8321040"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11480" y="4828032"/>
            <a:ext cx="5486400" cy="228600"/>
          </a:xfrm>
          <a:prstGeom prst="rect">
            <a:avLst/>
          </a:prstGeom>
          <a:noFill/>
        </p:spPr>
        <p:txBody>
          <a:bodyPr wrap="square" lIns="36576" rIns="36576" tIns="18288" bIns="18288" anchor="t">
            <a:spAutoFit/>
          </a:bodyPr>
          <a:lstStyle/>
          <a:p>
            <a:pPr algn="l">
              <a:lnSpc>
                <a:spcPct val="110000"/>
              </a:lnSpc>
            </a:pPr>
            <a:r>
              <a:rPr sz="800" b="0" u="none">
                <a:solidFill>
                  <a:srgbClr val="595959"/>
                </a:solidFill>
                <a:latin typeface="맑은 고딕"/>
                <a:ea typeface="맑은 고딕"/>
                <a:cs typeface="맑은 고딕"/>
              </a:rPr>
              <a:t>2026년도 한국인터넷정보학회 추계학술발표대회</a:t>
            </a:r>
          </a:p>
        </p:txBody>
      </p:sp>
      <p:sp>
        <p:nvSpPr>
          <p:cNvPr id="5" name="TextBox 4"/>
          <p:cNvSpPr txBox="1"/>
          <p:nvPr/>
        </p:nvSpPr>
        <p:spPr>
          <a:xfrm>
            <a:off x="5486400" y="4828032"/>
            <a:ext cx="3246120" cy="228600"/>
          </a:xfrm>
          <a:prstGeom prst="rect">
            <a:avLst/>
          </a:prstGeom>
          <a:noFill/>
        </p:spPr>
        <p:txBody>
          <a:bodyPr wrap="square" lIns="36576" rIns="36576" tIns="18288" bIns="18288" anchor="t">
            <a:spAutoFit/>
          </a:bodyPr>
          <a:lstStyle/>
          <a:p>
            <a:pPr algn="r">
              <a:lnSpc>
                <a:spcPct val="110000"/>
              </a:lnSpc>
            </a:pPr>
            <a:r>
              <a:rPr sz="800" b="0" u="none">
                <a:solidFill>
                  <a:srgbClr val="595959"/>
                </a:solidFill>
                <a:latin typeface="맑은 고딕"/>
                <a:ea typeface="맑은 고딕"/>
                <a:cs typeface="맑은 고딕"/>
              </a:rPr>
              <a:t>Hongik University Software Engineering Lab   9</a:t>
            </a:r>
          </a:p>
        </p:txBody>
      </p:sp>
      <p:pic>
        <p:nvPicPr>
          <p:cNvPr id="6" name="Picture 5" descr="diagram_verification.png"/>
          <p:cNvPicPr>
            <a:picLocks noChangeAspect="1"/>
          </p:cNvPicPr>
          <p:nvPr/>
        </p:nvPicPr>
        <p:blipFill>
          <a:blip r:embed="rId2"/>
          <a:stretch>
            <a:fillRect/>
          </a:stretch>
        </p:blipFill>
        <p:spPr>
          <a:xfrm>
            <a:off x="701715" y="868680"/>
            <a:ext cx="4082969" cy="3794760"/>
          </a:xfrm>
          <a:prstGeom prst="rect">
            <a:avLst/>
          </a:prstGeom>
        </p:spPr>
      </p:pic>
      <p:sp>
        <p:nvSpPr>
          <p:cNvPr id="7" name="TextBox 6"/>
          <p:cNvSpPr txBox="1"/>
          <p:nvPr/>
        </p:nvSpPr>
        <p:spPr>
          <a:xfrm>
            <a:off x="5349240" y="868680"/>
            <a:ext cx="3429000" cy="3840480"/>
          </a:xfrm>
          <a:prstGeom prst="rect">
            <a:avLst/>
          </a:prstGeom>
          <a:noFill/>
        </p:spPr>
        <p:txBody>
          <a:bodyPr wrap="square" lIns="36576" rIns="36576" tIns="18288" bIns="18288" anchor="t">
            <a:spAutoFit/>
          </a:bodyPr>
          <a:lstStyle/>
          <a:p>
            <a:pPr algn="l">
              <a:lnSpc>
                <a:spcPct val="120000"/>
              </a:lnSpc>
            </a:pPr>
            <a:r>
              <a:rPr sz="1200" b="0" u="none">
                <a:solidFill>
                  <a:srgbClr val="1A1A1A"/>
                </a:solidFill>
                <a:latin typeface="맑은 고딕"/>
                <a:ea typeface="맑은 고딕"/>
                <a:cs typeface="맑은 고딕"/>
              </a:rPr>
              <a:t>• </a:t>
            </a:r>
            <a:r>
              <a:rPr sz="1200" b="1" u="none">
                <a:solidFill>
                  <a:srgbClr val="1A1A1A"/>
                </a:solidFill>
                <a:latin typeface="맑은 고딕"/>
                <a:ea typeface="맑은 고딕"/>
                <a:cs typeface="맑은 고딕"/>
              </a:rPr>
              <a:t>헬드아웃</a:t>
            </a:r>
            <a:r>
              <a:rPr sz="1200" b="0" u="none">
                <a:solidFill>
                  <a:srgbClr val="1A1A1A"/>
                </a:solidFill>
                <a:latin typeface="맑은 고딕"/>
                <a:ea typeface="맑은 고딕"/>
                <a:cs typeface="맑은 고딕"/>
              </a:rPr>
              <a:t>: 루프에 넣지 않은 시나리오로 과적합 징후 점검</a:t>
            </a:r>
          </a:p>
          <a:p>
            <a:pPr algn="l">
              <a:lnSpc>
                <a:spcPct val="120000"/>
              </a:lnSpc>
            </a:pPr>
            <a:r>
              <a:rPr sz="1200" b="0" u="none">
                <a:solidFill>
                  <a:srgbClr val="1A1A1A"/>
                </a:solidFill>
                <a:latin typeface="맑은 고딕"/>
                <a:ea typeface="맑은 고딕"/>
                <a:cs typeface="맑은 고딕"/>
              </a:rPr>
              <a:t>• </a:t>
            </a:r>
            <a:r>
              <a:rPr sz="1200" b="1" u="none">
                <a:solidFill>
                  <a:srgbClr val="1A1A1A"/>
                </a:solidFill>
                <a:latin typeface="맑은 고딕"/>
                <a:ea typeface="맑은 고딕"/>
                <a:cs typeface="맑은 고딕"/>
              </a:rPr>
              <a:t>적응형 재공격</a:t>
            </a:r>
            <a:r>
              <a:rPr sz="1200" b="0" u="none">
                <a:solidFill>
                  <a:srgbClr val="1A1A1A"/>
                </a:solidFill>
                <a:latin typeface="맑은 고딕"/>
                <a:ea typeface="맑은 고딕"/>
                <a:cs typeface="맑은 고딕"/>
              </a:rPr>
              <a:t> (각 5건 신규 생성)</a:t>
            </a:r>
          </a:p>
          <a:p>
            <a:pPr algn="l">
              <a:lnSpc>
                <a:spcPct val="120000"/>
              </a:lnSpc>
            </a:pPr>
            <a:r>
              <a:rPr sz="1100" b="0" u="none">
                <a:solidFill>
                  <a:srgbClr val="1A1A1A"/>
                </a:solidFill>
                <a:latin typeface="맑은 고딕"/>
                <a:ea typeface="맑은 고딕"/>
                <a:cs typeface="맑은 고딕"/>
              </a:rPr>
              <a:t>   → </a:t>
            </a:r>
            <a:r>
              <a:rPr sz="1100" b="0" u="none">
                <a:solidFill>
                  <a:srgbClr val="1A1A1A"/>
                </a:solidFill>
                <a:latin typeface="맑은 고딕"/>
                <a:ea typeface="맑은 고딕"/>
                <a:cs typeface="맑은 고딕"/>
              </a:rPr>
              <a:t>블랙박스: 범주별 실패 요약만 앎</a:t>
            </a:r>
          </a:p>
          <a:p>
            <a:pPr algn="l">
              <a:lnSpc>
                <a:spcPct val="120000"/>
              </a:lnSpc>
            </a:pPr>
            <a:r>
              <a:rPr sz="1100" b="0" u="none">
                <a:solidFill>
                  <a:srgbClr val="1A1A1A"/>
                </a:solidFill>
                <a:latin typeface="맑은 고딕"/>
                <a:ea typeface="맑은 고딕"/>
                <a:cs typeface="맑은 고딕"/>
              </a:rPr>
              <a:t>   → </a:t>
            </a:r>
            <a:r>
              <a:rPr sz="1100" b="0" u="none">
                <a:solidFill>
                  <a:srgbClr val="1A1A1A"/>
                </a:solidFill>
                <a:latin typeface="맑은 고딕"/>
                <a:ea typeface="맑은 고딕"/>
                <a:cs typeface="맑은 고딕"/>
              </a:rPr>
              <a:t>화이트박스: Meta-Rule 전문을 앎</a:t>
            </a:r>
          </a:p>
          <a:p>
            <a:pPr algn="l">
              <a:lnSpc>
                <a:spcPct val="120000"/>
              </a:lnSpc>
            </a:pPr>
            <a:r>
              <a:rPr sz="1200" b="0" u="none">
                <a:solidFill>
                  <a:srgbClr val="1A1A1A"/>
                </a:solidFill>
                <a:latin typeface="맑은 고딕"/>
                <a:ea typeface="맑은 고딕"/>
                <a:cs typeface="맑은 고딕"/>
              </a:rPr>
              <a:t>• </a:t>
            </a:r>
            <a:r>
              <a:rPr sz="1200" b="1" u="none">
                <a:solidFill>
                  <a:srgbClr val="1A1A1A"/>
                </a:solidFill>
                <a:latin typeface="맑은 고딕"/>
                <a:ea typeface="맑은 고딕"/>
                <a:cs typeface="맑은 고딕"/>
              </a:rPr>
              <a:t>교차 모델</a:t>
            </a:r>
            <a:r>
              <a:rPr sz="1200" b="0" u="none">
                <a:solidFill>
                  <a:srgbClr val="1A1A1A"/>
                </a:solidFill>
                <a:latin typeface="맑은 고딕"/>
                <a:ea typeface="맑은 고딕"/>
                <a:cs typeface="맑은 고딕"/>
              </a:rPr>
              <a:t>: 응답 모델 3개, 심판관 고정</a:t>
            </a:r>
          </a:p>
          <a:p>
            <a:pPr algn="l">
              <a:lnSpc>
                <a:spcPct val="120000"/>
              </a:lnSpc>
            </a:pPr>
            <a:r>
              <a:rPr sz="1100" b="0" u="none">
                <a:solidFill>
                  <a:srgbClr val="1A1A1A"/>
                </a:solidFill>
                <a:latin typeface="맑은 고딕"/>
                <a:ea typeface="맑은 고딕"/>
                <a:cs typeface="맑은 고딕"/>
              </a:rPr>
              <a:t>   → </a:t>
            </a:r>
            <a:r>
              <a:rPr sz="1100" b="0" u="none">
                <a:solidFill>
                  <a:srgbClr val="1A1A1A"/>
                </a:solidFill>
                <a:latin typeface="맑은 고딕"/>
                <a:ea typeface="맑은 고딕"/>
                <a:cs typeface="맑은 고딕"/>
              </a:rPr>
              <a:t>2개 이상 최고 등급이면 통과</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274320"/>
            <a:ext cx="8321040" cy="457200"/>
          </a:xfrm>
          <a:prstGeom prst="rect">
            <a:avLst/>
          </a:prstGeom>
          <a:noFill/>
        </p:spPr>
        <p:txBody>
          <a:bodyPr wrap="square" lIns="36576" rIns="36576" tIns="18288" bIns="18288" anchor="t">
            <a:spAutoFit/>
          </a:bodyPr>
          <a:lstStyle/>
          <a:p>
            <a:pPr algn="l">
              <a:lnSpc>
                <a:spcPct val="110000"/>
              </a:lnSpc>
            </a:pPr>
            <a:r>
              <a:rPr sz="1300" b="0" u="none">
                <a:solidFill>
                  <a:srgbClr val="595959"/>
                </a:solidFill>
                <a:latin typeface="맑은 고딕"/>
                <a:ea typeface="맑은 고딕"/>
                <a:cs typeface="맑은 고딕"/>
              </a:rPr>
              <a:t>Ⅳ. 실험 및 결과  </a:t>
            </a:r>
            <a:r>
              <a:rPr sz="1900" b="1" u="none">
                <a:solidFill>
                  <a:srgbClr val="1A1A1A"/>
                </a:solidFill>
                <a:latin typeface="맑은 고딕"/>
                <a:ea typeface="맑은 고딕"/>
                <a:cs typeface="맑은 고딕"/>
              </a:rPr>
              <a:t>실험 설정</a:t>
            </a:r>
          </a:p>
        </p:txBody>
      </p:sp>
      <p:cxnSp>
        <p:nvCxnSpPr>
          <p:cNvPr id="3" name="Connector 2"/>
          <p:cNvCxnSpPr/>
          <p:nvPr/>
        </p:nvCxnSpPr>
        <p:spPr>
          <a:xfrm>
            <a:off x="411480" y="4800600"/>
            <a:ext cx="8321040"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11480" y="4828032"/>
            <a:ext cx="5486400" cy="228600"/>
          </a:xfrm>
          <a:prstGeom prst="rect">
            <a:avLst/>
          </a:prstGeom>
          <a:noFill/>
        </p:spPr>
        <p:txBody>
          <a:bodyPr wrap="square" lIns="36576" rIns="36576" tIns="18288" bIns="18288" anchor="t">
            <a:spAutoFit/>
          </a:bodyPr>
          <a:lstStyle/>
          <a:p>
            <a:pPr algn="l">
              <a:lnSpc>
                <a:spcPct val="110000"/>
              </a:lnSpc>
            </a:pPr>
            <a:r>
              <a:rPr sz="800" b="0" u="none">
                <a:solidFill>
                  <a:srgbClr val="595959"/>
                </a:solidFill>
                <a:latin typeface="맑은 고딕"/>
                <a:ea typeface="맑은 고딕"/>
                <a:cs typeface="맑은 고딕"/>
              </a:rPr>
              <a:t>2026년도 한국인터넷정보학회 추계학술발표대회</a:t>
            </a:r>
          </a:p>
        </p:txBody>
      </p:sp>
      <p:sp>
        <p:nvSpPr>
          <p:cNvPr id="5" name="TextBox 4"/>
          <p:cNvSpPr txBox="1"/>
          <p:nvPr/>
        </p:nvSpPr>
        <p:spPr>
          <a:xfrm>
            <a:off x="5486400" y="4828032"/>
            <a:ext cx="3246120" cy="228600"/>
          </a:xfrm>
          <a:prstGeom prst="rect">
            <a:avLst/>
          </a:prstGeom>
          <a:noFill/>
        </p:spPr>
        <p:txBody>
          <a:bodyPr wrap="square" lIns="36576" rIns="36576" tIns="18288" bIns="18288" anchor="t">
            <a:spAutoFit/>
          </a:bodyPr>
          <a:lstStyle/>
          <a:p>
            <a:pPr algn="r">
              <a:lnSpc>
                <a:spcPct val="110000"/>
              </a:lnSpc>
            </a:pPr>
            <a:r>
              <a:rPr sz="800" b="0" u="none">
                <a:solidFill>
                  <a:srgbClr val="595959"/>
                </a:solidFill>
                <a:latin typeface="맑은 고딕"/>
                <a:ea typeface="맑은 고딕"/>
                <a:cs typeface="맑은 고딕"/>
              </a:rPr>
              <a:t>Hongik University Software Engineering Lab   10</a:t>
            </a:r>
          </a:p>
        </p:txBody>
      </p:sp>
      <p:pic>
        <p:nvPicPr>
          <p:cNvPr id="6" name="Picture 5" descr="N11_experiment_setup.png"/>
          <p:cNvPicPr>
            <a:picLocks noChangeAspect="1"/>
          </p:cNvPicPr>
          <p:nvPr/>
        </p:nvPicPr>
        <p:blipFill>
          <a:blip r:embed="rId2"/>
          <a:stretch>
            <a:fillRect/>
          </a:stretch>
        </p:blipFill>
        <p:spPr>
          <a:xfrm>
            <a:off x="448411" y="868680"/>
            <a:ext cx="3949497" cy="3794760"/>
          </a:xfrm>
          <a:prstGeom prst="rect">
            <a:avLst/>
          </a:prstGeom>
        </p:spPr>
      </p:pic>
      <p:sp>
        <p:nvSpPr>
          <p:cNvPr id="7" name="TextBox 6"/>
          <p:cNvSpPr txBox="1"/>
          <p:nvPr/>
        </p:nvSpPr>
        <p:spPr>
          <a:xfrm>
            <a:off x="4754880" y="868680"/>
            <a:ext cx="4023360" cy="3840480"/>
          </a:xfrm>
          <a:prstGeom prst="rect">
            <a:avLst/>
          </a:prstGeom>
          <a:noFill/>
        </p:spPr>
        <p:txBody>
          <a:bodyPr wrap="square" lIns="36576" rIns="36576" tIns="18288" bIns="18288" anchor="t">
            <a:spAutoFit/>
          </a:bodyPr>
          <a:lstStyle/>
          <a:p>
            <a:pPr algn="l">
              <a:lnSpc>
                <a:spcPct val="120000"/>
              </a:lnSpc>
            </a:pPr>
            <a:r>
              <a:rPr sz="1200" b="0" u="none">
                <a:solidFill>
                  <a:srgbClr val="1A1A1A"/>
                </a:solidFill>
                <a:latin typeface="맑은 고딕"/>
                <a:ea typeface="맑은 고딕"/>
                <a:cs typeface="맑은 고딕"/>
              </a:rPr>
              <a:t>• </a:t>
            </a:r>
            <a:r>
              <a:rPr sz="1200" b="0" u="none">
                <a:solidFill>
                  <a:srgbClr val="1A1A1A"/>
                </a:solidFill>
                <a:latin typeface="맑은 고딕"/>
                <a:ea typeface="맑은 고딕"/>
                <a:cs typeface="맑은 고딕"/>
              </a:rPr>
              <a:t>실제 운영 프로젝트의 </a:t>
            </a:r>
            <a:r>
              <a:rPr sz="1200" b="1" u="none">
                <a:solidFill>
                  <a:srgbClr val="D01010"/>
                </a:solidFill>
                <a:latin typeface="맑은 고딕"/>
                <a:ea typeface="맑은 고딕"/>
                <a:cs typeface="맑은 고딕"/>
              </a:rPr>
              <a:t>지침·상품 자료 그대로</a:t>
            </a:r>
          </a:p>
          <a:p>
            <a:pPr algn="l">
              <a:lnSpc>
                <a:spcPct val="120000"/>
              </a:lnSpc>
            </a:pPr>
            <a:r>
              <a:rPr sz="1200" b="0" u="none">
                <a:solidFill>
                  <a:srgbClr val="1A1A1A"/>
                </a:solidFill>
                <a:latin typeface="맑은 고딕"/>
                <a:ea typeface="맑은 고딕"/>
                <a:cs typeface="맑은 고딕"/>
              </a:rPr>
              <a:t>• </a:t>
            </a:r>
            <a:r>
              <a:rPr sz="1200" b="0" u="none">
                <a:solidFill>
                  <a:srgbClr val="1A1A1A"/>
                </a:solidFill>
                <a:latin typeface="맑은 고딕"/>
                <a:ea typeface="맑은 고딕"/>
                <a:cs typeface="맑은 고딕"/>
              </a:rPr>
              <a:t>회원 정보는 합성 미끼 데이터(1,000명)</a:t>
            </a:r>
          </a:p>
          <a:p>
            <a:pPr algn="l">
              <a:lnSpc>
                <a:spcPct val="120000"/>
              </a:lnSpc>
            </a:pPr>
            <a:r>
              <a:rPr sz="1200" b="0" u="none">
                <a:solidFill>
                  <a:srgbClr val="1A1A1A"/>
                </a:solidFill>
                <a:latin typeface="맑은 고딕"/>
                <a:ea typeface="맑은 고딕"/>
                <a:cs typeface="맑은 고딕"/>
              </a:rPr>
              <a:t>• </a:t>
            </a:r>
            <a:r>
              <a:rPr sz="1200" b="1" u="none">
                <a:solidFill>
                  <a:srgbClr val="D01010"/>
                </a:solidFill>
                <a:latin typeface="맑은 고딕"/>
                <a:ea typeface="맑은 고딕"/>
                <a:cs typeface="맑은 고딕"/>
              </a:rPr>
              <a:t>예비 규모</a:t>
            </a:r>
            <a:r>
              <a:rPr sz="1200" b="0" u="none">
                <a:solidFill>
                  <a:srgbClr val="1A1A1A"/>
                </a:solidFill>
                <a:latin typeface="맑은 고딕"/>
                <a:ea typeface="맑은 고딕"/>
                <a:cs typeface="맑은 고딕"/>
              </a:rPr>
              <a:t>: 치유용 24 · 헬드아웃 24</a:t>
            </a:r>
          </a:p>
          <a:p>
            <a:pPr algn="l">
              <a:lnSpc>
                <a:spcPct val="120000"/>
              </a:lnSpc>
            </a:pPr>
            <a:r>
              <a:rPr sz="1100" b="0" u="none">
                <a:solidFill>
                  <a:srgbClr val="1A1A1A"/>
                </a:solidFill>
                <a:latin typeface="맑은 고딕"/>
                <a:ea typeface="맑은 고딕"/>
                <a:cs typeface="맑은 고딕"/>
              </a:rPr>
              <a:t>   → </a:t>
            </a:r>
            <a:r>
              <a:rPr sz="1100" b="0" u="none">
                <a:solidFill>
                  <a:srgbClr val="1A1A1A"/>
                </a:solidFill>
                <a:latin typeface="맑은 고딕"/>
                <a:ea typeface="맑은 고딕"/>
                <a:cs typeface="맑은 고딕"/>
              </a:rPr>
              <a:t>심판관 채점 거부로 23/22건 채점</a:t>
            </a:r>
          </a:p>
          <a:p>
            <a:pPr algn="l">
              <a:lnSpc>
                <a:spcPct val="120000"/>
              </a:lnSpc>
            </a:pPr>
            <a:r>
              <a:rPr sz="1200" b="0" u="none">
                <a:solidFill>
                  <a:srgbClr val="1A1A1A"/>
                </a:solidFill>
                <a:latin typeface="맑은 고딕"/>
                <a:ea typeface="맑은 고딕"/>
                <a:cs typeface="맑은 고딕"/>
              </a:rPr>
              <a:t>• </a:t>
            </a:r>
            <a:r>
              <a:rPr sz="1200" b="0" u="none">
                <a:solidFill>
                  <a:srgbClr val="1A1A1A"/>
                </a:solidFill>
                <a:latin typeface="맑은 고딕"/>
                <a:ea typeface="맑은 고딕"/>
                <a:cs typeface="맑은 고딕"/>
              </a:rPr>
              <a:t>준수율 = 점수 합 ÷ 만점</a:t>
            </a:r>
          </a:p>
          <a:p>
            <a:pPr algn="l">
              <a:lnSpc>
                <a:spcPct val="120000"/>
              </a:lnSpc>
            </a:pPr>
            <a:r>
              <a:rPr sz="1100" b="0" u="none">
                <a:solidFill>
                  <a:srgbClr val="1A1A1A"/>
                </a:solidFill>
                <a:latin typeface="맑은 고딕"/>
                <a:ea typeface="맑은 고딕"/>
                <a:cs typeface="맑은 고딕"/>
              </a:rPr>
              <a:t>   → </a:t>
            </a:r>
            <a:r>
              <a:rPr sz="1100" b="0" u="none">
                <a:solidFill>
                  <a:srgbClr val="1A1A1A"/>
                </a:solidFill>
                <a:latin typeface="맑은 고딕"/>
                <a:ea typeface="맑은 고딕"/>
                <a:cs typeface="맑은 고딕"/>
              </a:rPr>
              <a:t>PASS 3 · WARNING 2 · FAIL 1, 모두 WARNING이면 66.7%</a:t>
            </a:r>
          </a:p>
          <a:p>
            <a:pPr algn="l">
              <a:lnSpc>
                <a:spcPct val="120000"/>
              </a:lnSpc>
            </a:pPr>
            <a:r>
              <a:rPr sz="1200" b="0" u="none">
                <a:solidFill>
                  <a:srgbClr val="1A1A1A"/>
                </a:solidFill>
                <a:latin typeface="맑은 고딕"/>
                <a:ea typeface="맑은 고딕"/>
                <a:cs typeface="맑은 고딕"/>
              </a:rPr>
              <a:t>• </a:t>
            </a:r>
            <a:r>
              <a:rPr sz="1200" b="0" u="none">
                <a:solidFill>
                  <a:srgbClr val="1A1A1A"/>
                </a:solidFill>
                <a:latin typeface="맑은 고딕"/>
                <a:ea typeface="맑은 고딕"/>
                <a:cs typeface="맑은 고딕"/>
              </a:rPr>
              <a:t>실행 비용: 5라운드 $9.9 · 15라운드 $18.8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274320"/>
            <a:ext cx="8321040" cy="457200"/>
          </a:xfrm>
          <a:prstGeom prst="rect">
            <a:avLst/>
          </a:prstGeom>
          <a:noFill/>
        </p:spPr>
        <p:txBody>
          <a:bodyPr wrap="square" lIns="36576" rIns="36576" tIns="18288" bIns="18288" anchor="t">
            <a:spAutoFit/>
          </a:bodyPr>
          <a:lstStyle/>
          <a:p>
            <a:pPr algn="l">
              <a:lnSpc>
                <a:spcPct val="110000"/>
              </a:lnSpc>
            </a:pPr>
            <a:r>
              <a:rPr sz="1300" b="0" u="none">
                <a:solidFill>
                  <a:srgbClr val="595959"/>
                </a:solidFill>
                <a:latin typeface="맑은 고딕"/>
                <a:ea typeface="맑은 고딕"/>
                <a:cs typeface="맑은 고딕"/>
              </a:rPr>
              <a:t>Ⅳ. 실험 및 결과  </a:t>
            </a:r>
            <a:r>
              <a:rPr sz="1900" b="1" u="none">
                <a:solidFill>
                  <a:srgbClr val="1A1A1A"/>
                </a:solidFill>
                <a:latin typeface="맑은 고딕"/>
                <a:ea typeface="맑은 고딕"/>
                <a:cs typeface="맑은 고딕"/>
              </a:rPr>
              <a:t>5라운드 실행: 준수율 68.1% → 88.4%</a:t>
            </a:r>
          </a:p>
        </p:txBody>
      </p:sp>
      <p:cxnSp>
        <p:nvCxnSpPr>
          <p:cNvPr id="3" name="Connector 2"/>
          <p:cNvCxnSpPr/>
          <p:nvPr/>
        </p:nvCxnSpPr>
        <p:spPr>
          <a:xfrm>
            <a:off x="411480" y="4800600"/>
            <a:ext cx="8321040"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11480" y="4828032"/>
            <a:ext cx="5486400" cy="228600"/>
          </a:xfrm>
          <a:prstGeom prst="rect">
            <a:avLst/>
          </a:prstGeom>
          <a:noFill/>
        </p:spPr>
        <p:txBody>
          <a:bodyPr wrap="square" lIns="36576" rIns="36576" tIns="18288" bIns="18288" anchor="t">
            <a:spAutoFit/>
          </a:bodyPr>
          <a:lstStyle/>
          <a:p>
            <a:pPr algn="l">
              <a:lnSpc>
                <a:spcPct val="110000"/>
              </a:lnSpc>
            </a:pPr>
            <a:r>
              <a:rPr sz="800" b="0" u="none">
                <a:solidFill>
                  <a:srgbClr val="595959"/>
                </a:solidFill>
                <a:latin typeface="맑은 고딕"/>
                <a:ea typeface="맑은 고딕"/>
                <a:cs typeface="맑은 고딕"/>
              </a:rPr>
              <a:t>2026년도 한국인터넷정보학회 추계학술발표대회</a:t>
            </a:r>
          </a:p>
        </p:txBody>
      </p:sp>
      <p:sp>
        <p:nvSpPr>
          <p:cNvPr id="5" name="TextBox 4"/>
          <p:cNvSpPr txBox="1"/>
          <p:nvPr/>
        </p:nvSpPr>
        <p:spPr>
          <a:xfrm>
            <a:off x="5486400" y="4828032"/>
            <a:ext cx="3246120" cy="228600"/>
          </a:xfrm>
          <a:prstGeom prst="rect">
            <a:avLst/>
          </a:prstGeom>
          <a:noFill/>
        </p:spPr>
        <p:txBody>
          <a:bodyPr wrap="square" lIns="36576" rIns="36576" tIns="18288" bIns="18288" anchor="t">
            <a:spAutoFit/>
          </a:bodyPr>
          <a:lstStyle/>
          <a:p>
            <a:pPr algn="r">
              <a:lnSpc>
                <a:spcPct val="110000"/>
              </a:lnSpc>
            </a:pPr>
            <a:r>
              <a:rPr sz="800" b="0" u="none">
                <a:solidFill>
                  <a:srgbClr val="595959"/>
                </a:solidFill>
                <a:latin typeface="맑은 고딕"/>
                <a:ea typeface="맑은 고딕"/>
                <a:cs typeface="맑은 고딕"/>
              </a:rPr>
              <a:t>Hongik University Software Engineering Lab   11</a:t>
            </a:r>
          </a:p>
        </p:txBody>
      </p:sp>
      <p:pic>
        <p:nvPicPr>
          <p:cNvPr id="6" name="Picture 5" descr="chart_a_run7_rounds.png"/>
          <p:cNvPicPr>
            <a:picLocks noChangeAspect="1"/>
          </p:cNvPicPr>
          <p:nvPr/>
        </p:nvPicPr>
        <p:blipFill>
          <a:blip r:embed="rId2"/>
          <a:stretch>
            <a:fillRect/>
          </a:stretch>
        </p:blipFill>
        <p:spPr>
          <a:xfrm>
            <a:off x="549792" y="868680"/>
            <a:ext cx="3746734" cy="3291840"/>
          </a:xfrm>
          <a:prstGeom prst="rect">
            <a:avLst/>
          </a:prstGeom>
        </p:spPr>
      </p:pic>
      <p:pic>
        <p:nvPicPr>
          <p:cNvPr id="7" name="Picture 6" descr="example_pii_r1_vs_r5.png"/>
          <p:cNvPicPr>
            <a:picLocks noChangeAspect="1"/>
          </p:cNvPicPr>
          <p:nvPr/>
        </p:nvPicPr>
        <p:blipFill>
          <a:blip r:embed="rId3"/>
          <a:stretch>
            <a:fillRect/>
          </a:stretch>
        </p:blipFill>
        <p:spPr>
          <a:xfrm>
            <a:off x="4617720" y="1297604"/>
            <a:ext cx="4206240" cy="2433990"/>
          </a:xfrm>
          <a:prstGeom prst="rect">
            <a:avLst/>
          </a:prstGeom>
        </p:spPr>
      </p:pic>
      <p:sp>
        <p:nvSpPr>
          <p:cNvPr id="8" name="TextBox 7"/>
          <p:cNvSpPr txBox="1"/>
          <p:nvPr/>
        </p:nvSpPr>
        <p:spPr>
          <a:xfrm>
            <a:off x="411480" y="4224528"/>
            <a:ext cx="8321040" cy="502920"/>
          </a:xfrm>
          <a:prstGeom prst="rect">
            <a:avLst/>
          </a:prstGeom>
          <a:noFill/>
        </p:spPr>
        <p:txBody>
          <a:bodyPr wrap="square" lIns="36576" rIns="36576" tIns="18288" bIns="18288" anchor="t">
            <a:spAutoFit/>
          </a:bodyPr>
          <a:lstStyle/>
          <a:p>
            <a:pPr algn="ctr">
              <a:lnSpc>
                <a:spcPct val="110000"/>
              </a:lnSpc>
            </a:pPr>
            <a:r>
              <a:rPr sz="1200" b="0" u="none">
                <a:solidFill>
                  <a:srgbClr val="1A1A1A"/>
                </a:solidFill>
                <a:latin typeface="맑은 고딕"/>
                <a:ea typeface="맑은 고딕"/>
                <a:cs typeface="맑은 고딕"/>
              </a:rPr>
              <a:t>Wilcoxon p&lt;0.001 · 헬드아웃 87.0%(유의한 차이 없음) · </a:t>
            </a:r>
            <a:r>
              <a:rPr sz="1200" b="1" u="none">
                <a:solidFill>
                  <a:srgbClr val="1A1A1A"/>
                </a:solidFill>
                <a:latin typeface="맑은 고딕"/>
                <a:ea typeface="맑은 고딕"/>
                <a:cs typeface="맑은 고딕"/>
              </a:rPr>
              <a:t>FAIL 0건</a:t>
            </a:r>
            <a:r>
              <a:rPr sz="1200" b="0" u="none">
                <a:solidFill>
                  <a:srgbClr val="1A1A1A"/>
                </a:solidFill>
                <a:latin typeface="맑은 고딕"/>
                <a:ea typeface="맑은 고딕"/>
                <a:cs typeface="맑은 고딕"/>
              </a:rPr>
              <a:t> · 1라운드 WARNING 22건 중 </a:t>
            </a:r>
            <a:r>
              <a:rPr sz="1200" b="1" u="none">
                <a:solidFill>
                  <a:srgbClr val="D01010"/>
                </a:solidFill>
                <a:latin typeface="맑은 고딕"/>
                <a:ea typeface="맑은 고딕"/>
                <a:cs typeface="맑은 고딕"/>
              </a:rPr>
              <a:t>21건이 SRS 9번 '추가 질문 권유 문구'</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274320"/>
            <a:ext cx="8321040" cy="457200"/>
          </a:xfrm>
          <a:prstGeom prst="rect">
            <a:avLst/>
          </a:prstGeom>
          <a:noFill/>
        </p:spPr>
        <p:txBody>
          <a:bodyPr wrap="square" lIns="36576" rIns="36576" tIns="18288" bIns="18288" anchor="t">
            <a:spAutoFit/>
          </a:bodyPr>
          <a:lstStyle/>
          <a:p>
            <a:pPr algn="l">
              <a:lnSpc>
                <a:spcPct val="110000"/>
              </a:lnSpc>
            </a:pPr>
            <a:r>
              <a:rPr sz="1300" b="0" u="none">
                <a:solidFill>
                  <a:srgbClr val="595959"/>
                </a:solidFill>
                <a:latin typeface="맑은 고딕"/>
                <a:ea typeface="맑은 고딕"/>
                <a:cs typeface="맑은 고딕"/>
              </a:rPr>
              <a:t>Ⅳ. 실험 및 결과  </a:t>
            </a:r>
            <a:r>
              <a:rPr sz="1900" b="1" u="none">
                <a:solidFill>
                  <a:srgbClr val="1A1A1A"/>
                </a:solidFill>
                <a:latin typeface="맑은 고딕"/>
                <a:ea typeface="맑은 고딕"/>
                <a:cs typeface="맑은 고딕"/>
              </a:rPr>
              <a:t>15라운드 실행과 수렴 후 검증</a:t>
            </a:r>
          </a:p>
        </p:txBody>
      </p:sp>
      <p:cxnSp>
        <p:nvCxnSpPr>
          <p:cNvPr id="3" name="Connector 2"/>
          <p:cNvCxnSpPr/>
          <p:nvPr/>
        </p:nvCxnSpPr>
        <p:spPr>
          <a:xfrm>
            <a:off x="411480" y="4800600"/>
            <a:ext cx="8321040"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11480" y="4828032"/>
            <a:ext cx="5486400" cy="228600"/>
          </a:xfrm>
          <a:prstGeom prst="rect">
            <a:avLst/>
          </a:prstGeom>
          <a:noFill/>
        </p:spPr>
        <p:txBody>
          <a:bodyPr wrap="square" lIns="36576" rIns="36576" tIns="18288" bIns="18288" anchor="t">
            <a:spAutoFit/>
          </a:bodyPr>
          <a:lstStyle/>
          <a:p>
            <a:pPr algn="l">
              <a:lnSpc>
                <a:spcPct val="110000"/>
              </a:lnSpc>
            </a:pPr>
            <a:r>
              <a:rPr sz="800" b="0" u="none">
                <a:solidFill>
                  <a:srgbClr val="595959"/>
                </a:solidFill>
                <a:latin typeface="맑은 고딕"/>
                <a:ea typeface="맑은 고딕"/>
                <a:cs typeface="맑은 고딕"/>
              </a:rPr>
              <a:t>2026년도 한국인터넷정보학회 추계학술발표대회</a:t>
            </a:r>
          </a:p>
        </p:txBody>
      </p:sp>
      <p:sp>
        <p:nvSpPr>
          <p:cNvPr id="5" name="TextBox 4"/>
          <p:cNvSpPr txBox="1"/>
          <p:nvPr/>
        </p:nvSpPr>
        <p:spPr>
          <a:xfrm>
            <a:off x="5486400" y="4828032"/>
            <a:ext cx="3246120" cy="228600"/>
          </a:xfrm>
          <a:prstGeom prst="rect">
            <a:avLst/>
          </a:prstGeom>
          <a:noFill/>
        </p:spPr>
        <p:txBody>
          <a:bodyPr wrap="square" lIns="36576" rIns="36576" tIns="18288" bIns="18288" anchor="t">
            <a:spAutoFit/>
          </a:bodyPr>
          <a:lstStyle/>
          <a:p>
            <a:pPr algn="r">
              <a:lnSpc>
                <a:spcPct val="110000"/>
              </a:lnSpc>
            </a:pPr>
            <a:r>
              <a:rPr sz="800" b="0" u="none">
                <a:solidFill>
                  <a:srgbClr val="595959"/>
                </a:solidFill>
                <a:latin typeface="맑은 고딕"/>
                <a:ea typeface="맑은 고딕"/>
                <a:cs typeface="맑은 고딕"/>
              </a:rPr>
              <a:t>Hongik University Software Engineering Lab   12</a:t>
            </a:r>
          </a:p>
        </p:txBody>
      </p:sp>
      <p:pic>
        <p:nvPicPr>
          <p:cNvPr id="6" name="Picture 5" descr="chart_b_run9_rounds.png"/>
          <p:cNvPicPr>
            <a:picLocks noChangeAspect="1"/>
          </p:cNvPicPr>
          <p:nvPr/>
        </p:nvPicPr>
        <p:blipFill>
          <a:blip r:embed="rId2"/>
          <a:stretch>
            <a:fillRect/>
          </a:stretch>
        </p:blipFill>
        <p:spPr>
          <a:xfrm>
            <a:off x="528761" y="868680"/>
            <a:ext cx="3880236" cy="3291840"/>
          </a:xfrm>
          <a:prstGeom prst="rect">
            <a:avLst/>
          </a:prstGeom>
        </p:spPr>
      </p:pic>
      <p:pic>
        <p:nvPicPr>
          <p:cNvPr id="7" name="Picture 6" descr="chart_f_cross_model.png"/>
          <p:cNvPicPr>
            <a:picLocks noChangeAspect="1"/>
          </p:cNvPicPr>
          <p:nvPr/>
        </p:nvPicPr>
        <p:blipFill>
          <a:blip r:embed="rId3"/>
          <a:stretch>
            <a:fillRect/>
          </a:stretch>
        </p:blipFill>
        <p:spPr>
          <a:xfrm>
            <a:off x="4735814" y="868680"/>
            <a:ext cx="4061490" cy="3291840"/>
          </a:xfrm>
          <a:prstGeom prst="rect">
            <a:avLst/>
          </a:prstGeom>
        </p:spPr>
      </p:pic>
      <p:sp>
        <p:nvSpPr>
          <p:cNvPr id="8" name="TextBox 7"/>
          <p:cNvSpPr txBox="1"/>
          <p:nvPr/>
        </p:nvSpPr>
        <p:spPr>
          <a:xfrm>
            <a:off x="411480" y="4224528"/>
            <a:ext cx="8321040" cy="502920"/>
          </a:xfrm>
          <a:prstGeom prst="rect">
            <a:avLst/>
          </a:prstGeom>
          <a:noFill/>
        </p:spPr>
        <p:txBody>
          <a:bodyPr wrap="square" lIns="36576" rIns="36576" tIns="18288" bIns="18288" anchor="t">
            <a:spAutoFit/>
          </a:bodyPr>
          <a:lstStyle/>
          <a:p>
            <a:pPr algn="ctr">
              <a:lnSpc>
                <a:spcPct val="110000"/>
              </a:lnSpc>
            </a:pPr>
            <a:r>
              <a:rPr sz="1200" b="0" u="none">
                <a:solidFill>
                  <a:srgbClr val="1A1A1A"/>
                </a:solidFill>
                <a:latin typeface="맑은 고딕"/>
                <a:ea typeface="맑은 고딕"/>
                <a:cs typeface="맑은 고딕"/>
              </a:rPr>
              <a:t>라운드 3~13 진동 후 </a:t>
            </a:r>
            <a:r>
              <a:rPr sz="1200" b="1" u="none">
                <a:solidFill>
                  <a:srgbClr val="D01010"/>
                </a:solidFill>
                <a:latin typeface="맑은 고딕"/>
                <a:ea typeface="맑은 고딕"/>
                <a:cs typeface="맑은 고딕"/>
              </a:rPr>
              <a:t>14라운드 전원 최고 등급</a:t>
            </a:r>
            <a:r>
              <a:rPr sz="1200" b="0" u="none">
                <a:solidFill>
                  <a:srgbClr val="1A1A1A"/>
                </a:solidFill>
                <a:latin typeface="맑은 고딕"/>
                <a:ea typeface="맑은 고딕"/>
                <a:cs typeface="맑은 고딕"/>
              </a:rPr>
              <a:t> (3단계 PASS, 4단계 재채점 시 FULL 19/22) · 헬드아웃 97.1% · 교차 모델 91.3% (5라운드 SRS는 47.8%)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274320"/>
            <a:ext cx="8321040" cy="457200"/>
          </a:xfrm>
          <a:prstGeom prst="rect">
            <a:avLst/>
          </a:prstGeom>
          <a:noFill/>
        </p:spPr>
        <p:txBody>
          <a:bodyPr wrap="square" lIns="36576" rIns="36576" tIns="18288" bIns="18288" anchor="t">
            <a:spAutoFit/>
          </a:bodyPr>
          <a:lstStyle/>
          <a:p>
            <a:pPr algn="l">
              <a:lnSpc>
                <a:spcPct val="110000"/>
              </a:lnSpc>
            </a:pPr>
            <a:r>
              <a:rPr sz="1300" b="0" u="none">
                <a:solidFill>
                  <a:srgbClr val="595959"/>
                </a:solidFill>
                <a:latin typeface="맑은 고딕"/>
                <a:ea typeface="맑은 고딕"/>
                <a:cs typeface="맑은 고딕"/>
              </a:rPr>
              <a:t>Ⅳ. 실험 및 결과  </a:t>
            </a:r>
            <a:r>
              <a:rPr sz="1900" b="1" u="none">
                <a:solidFill>
                  <a:srgbClr val="1A1A1A"/>
                </a:solidFill>
                <a:latin typeface="맑은 고딕"/>
                <a:ea typeface="맑은 고딕"/>
                <a:cs typeface="맑은 고딕"/>
              </a:rPr>
              <a:t>수렴의 대가: Meta-Rule의 템플릿화</a:t>
            </a:r>
          </a:p>
        </p:txBody>
      </p:sp>
      <p:cxnSp>
        <p:nvCxnSpPr>
          <p:cNvPr id="3" name="Connector 2"/>
          <p:cNvCxnSpPr/>
          <p:nvPr/>
        </p:nvCxnSpPr>
        <p:spPr>
          <a:xfrm>
            <a:off x="411480" y="4800600"/>
            <a:ext cx="8321040"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11480" y="4828032"/>
            <a:ext cx="5486400" cy="228600"/>
          </a:xfrm>
          <a:prstGeom prst="rect">
            <a:avLst/>
          </a:prstGeom>
          <a:noFill/>
        </p:spPr>
        <p:txBody>
          <a:bodyPr wrap="square" lIns="36576" rIns="36576" tIns="18288" bIns="18288" anchor="t">
            <a:spAutoFit/>
          </a:bodyPr>
          <a:lstStyle/>
          <a:p>
            <a:pPr algn="l">
              <a:lnSpc>
                <a:spcPct val="110000"/>
              </a:lnSpc>
            </a:pPr>
            <a:r>
              <a:rPr sz="800" b="0" u="none">
                <a:solidFill>
                  <a:srgbClr val="595959"/>
                </a:solidFill>
                <a:latin typeface="맑은 고딕"/>
                <a:ea typeface="맑은 고딕"/>
                <a:cs typeface="맑은 고딕"/>
              </a:rPr>
              <a:t>2026년도 한국인터넷정보학회 추계학술발표대회</a:t>
            </a:r>
          </a:p>
        </p:txBody>
      </p:sp>
      <p:sp>
        <p:nvSpPr>
          <p:cNvPr id="5" name="TextBox 4"/>
          <p:cNvSpPr txBox="1"/>
          <p:nvPr/>
        </p:nvSpPr>
        <p:spPr>
          <a:xfrm>
            <a:off x="5486400" y="4828032"/>
            <a:ext cx="3246120" cy="228600"/>
          </a:xfrm>
          <a:prstGeom prst="rect">
            <a:avLst/>
          </a:prstGeom>
          <a:noFill/>
        </p:spPr>
        <p:txBody>
          <a:bodyPr wrap="square" lIns="36576" rIns="36576" tIns="18288" bIns="18288" anchor="t">
            <a:spAutoFit/>
          </a:bodyPr>
          <a:lstStyle/>
          <a:p>
            <a:pPr algn="r">
              <a:lnSpc>
                <a:spcPct val="110000"/>
              </a:lnSpc>
            </a:pPr>
            <a:r>
              <a:rPr sz="800" b="0" u="none">
                <a:solidFill>
                  <a:srgbClr val="595959"/>
                </a:solidFill>
                <a:latin typeface="맑은 고딕"/>
                <a:ea typeface="맑은 고딕"/>
                <a:cs typeface="맑은 고딕"/>
              </a:rPr>
              <a:t>Hongik University Software Engineering Lab   13</a:t>
            </a:r>
          </a:p>
        </p:txBody>
      </p:sp>
      <p:pic>
        <p:nvPicPr>
          <p:cNvPr id="6" name="Picture 5" descr="metarule_evolution.png"/>
          <p:cNvPicPr>
            <a:picLocks noChangeAspect="1"/>
          </p:cNvPicPr>
          <p:nvPr/>
        </p:nvPicPr>
        <p:blipFill>
          <a:blip r:embed="rId2"/>
          <a:stretch>
            <a:fillRect/>
          </a:stretch>
        </p:blipFill>
        <p:spPr>
          <a:xfrm>
            <a:off x="1164644" y="868680"/>
            <a:ext cx="3431431" cy="3794760"/>
          </a:xfrm>
          <a:prstGeom prst="rect">
            <a:avLst/>
          </a:prstGeom>
        </p:spPr>
      </p:pic>
      <p:pic>
        <p:nvPicPr>
          <p:cNvPr id="7" name="Picture 6" descr="chart_e_metarule_cumulative.png"/>
          <p:cNvPicPr>
            <a:picLocks noChangeAspect="1"/>
          </p:cNvPicPr>
          <p:nvPr/>
        </p:nvPicPr>
        <p:blipFill>
          <a:blip r:embed="rId3"/>
          <a:stretch>
            <a:fillRect/>
          </a:stretch>
        </p:blipFill>
        <p:spPr>
          <a:xfrm>
            <a:off x="5926432" y="868680"/>
            <a:ext cx="2503215" cy="2103120"/>
          </a:xfrm>
          <a:prstGeom prst="rect">
            <a:avLst/>
          </a:prstGeom>
        </p:spPr>
      </p:pic>
      <p:sp>
        <p:nvSpPr>
          <p:cNvPr id="8" name="TextBox 7"/>
          <p:cNvSpPr txBox="1"/>
          <p:nvPr/>
        </p:nvSpPr>
        <p:spPr>
          <a:xfrm>
            <a:off x="5532120" y="3063240"/>
            <a:ext cx="3291840" cy="1645920"/>
          </a:xfrm>
          <a:prstGeom prst="rect">
            <a:avLst/>
          </a:prstGeom>
          <a:noFill/>
        </p:spPr>
        <p:txBody>
          <a:bodyPr wrap="square" lIns="36576" rIns="36576" tIns="18288" bIns="18288" anchor="t">
            <a:spAutoFit/>
          </a:bodyPr>
          <a:lstStyle/>
          <a:p>
            <a:pPr algn="l">
              <a:lnSpc>
                <a:spcPct val="120000"/>
              </a:lnSpc>
            </a:pPr>
            <a:r>
              <a:rPr sz="1200" b="0" u="none">
                <a:solidFill>
                  <a:srgbClr val="1A1A1A"/>
                </a:solidFill>
                <a:latin typeface="맑은 고딕"/>
                <a:ea typeface="맑은 고딕"/>
                <a:cs typeface="맑은 고딕"/>
              </a:rPr>
              <a:t>• </a:t>
            </a:r>
            <a:r>
              <a:rPr sz="1200" b="0" u="none">
                <a:solidFill>
                  <a:srgbClr val="1A1A1A"/>
                </a:solidFill>
                <a:latin typeface="맑은 고딕"/>
                <a:ea typeface="맑은 고딕"/>
                <a:cs typeface="맑은 고딕"/>
              </a:rPr>
              <a:t>Meta-Rule </a:t>
            </a:r>
            <a:r>
              <a:rPr sz="1200" b="1" u="none">
                <a:solidFill>
                  <a:srgbClr val="D01010"/>
                </a:solidFill>
                <a:latin typeface="맑은 고딕"/>
                <a:ea typeface="맑은 고딕"/>
                <a:cs typeface="맑은 고딕"/>
              </a:rPr>
              <a:t>28개</a:t>
            </a:r>
            <a:r>
              <a:rPr sz="1200" b="0" u="none">
                <a:solidFill>
                  <a:srgbClr val="1A1A1A"/>
                </a:solidFill>
                <a:latin typeface="맑은 고딕"/>
                <a:ea typeface="맑은 고딕"/>
                <a:cs typeface="맑은 고딕"/>
              </a:rPr>
              <a:t> 누적</a:t>
            </a:r>
          </a:p>
          <a:p>
            <a:pPr algn="l">
              <a:lnSpc>
                <a:spcPct val="120000"/>
              </a:lnSpc>
            </a:pPr>
            <a:r>
              <a:rPr sz="1200" b="0" u="none">
                <a:solidFill>
                  <a:srgbClr val="1A1A1A"/>
                </a:solidFill>
                <a:latin typeface="맑은 고딕"/>
                <a:ea typeface="맑은 고딕"/>
                <a:cs typeface="맑은 고딕"/>
              </a:rPr>
              <a:t>• </a:t>
            </a:r>
            <a:r>
              <a:rPr sz="1200" b="0" u="none">
                <a:solidFill>
                  <a:srgbClr val="1A1A1A"/>
                </a:solidFill>
                <a:latin typeface="맑은 고딕"/>
                <a:ea typeface="맑은 고딕"/>
                <a:cs typeface="맑은 고딕"/>
              </a:rPr>
              <a:t>후반 규칙: 거절 문장을 </a:t>
            </a:r>
            <a:r>
              <a:rPr sz="1200" b="1" u="none">
                <a:solidFill>
                  <a:srgbClr val="D01010"/>
                </a:solidFill>
                <a:latin typeface="맑은 고딕"/>
                <a:ea typeface="맑은 고딕"/>
                <a:cs typeface="맑은 고딕"/>
              </a:rPr>
              <a:t>고정 템플릿</a:t>
            </a:r>
            <a:r>
              <a:rPr sz="1200" b="0" u="none">
                <a:solidFill>
                  <a:srgbClr val="1A1A1A"/>
                </a:solidFill>
                <a:latin typeface="맑은 고딕"/>
                <a:ea typeface="맑은 고딕"/>
                <a:cs typeface="맑은 고딕"/>
              </a:rPr>
              <a:t>으로</a:t>
            </a:r>
          </a:p>
          <a:p>
            <a:pPr algn="l">
              <a:lnSpc>
                <a:spcPct val="120000"/>
              </a:lnSpc>
            </a:pPr>
            <a:r>
              <a:rPr sz="1200" b="0" u="none">
                <a:solidFill>
                  <a:srgbClr val="1A1A1A"/>
                </a:solidFill>
                <a:latin typeface="맑은 고딕"/>
                <a:ea typeface="맑은 고딕"/>
                <a:cs typeface="맑은 고딕"/>
              </a:rPr>
              <a:t>• </a:t>
            </a:r>
            <a:r>
              <a:rPr sz="1200" b="0" u="none">
                <a:solidFill>
                  <a:srgbClr val="1A1A1A"/>
                </a:solidFill>
                <a:latin typeface="맑은 고딕"/>
                <a:ea typeface="맑은 고딕"/>
                <a:cs typeface="맑은 고딕"/>
              </a:rPr>
              <a:t>준수율 향상 ≠ 자연어 지침 최적화</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274320"/>
            <a:ext cx="8321040" cy="457200"/>
          </a:xfrm>
          <a:prstGeom prst="rect">
            <a:avLst/>
          </a:prstGeom>
          <a:noFill/>
        </p:spPr>
        <p:txBody>
          <a:bodyPr wrap="square" lIns="36576" rIns="36576" tIns="18288" bIns="18288" anchor="t">
            <a:spAutoFit/>
          </a:bodyPr>
          <a:lstStyle/>
          <a:p>
            <a:pPr algn="l">
              <a:lnSpc>
                <a:spcPct val="110000"/>
              </a:lnSpc>
            </a:pPr>
            <a:r>
              <a:rPr sz="1300" b="0" u="none">
                <a:solidFill>
                  <a:srgbClr val="595959"/>
                </a:solidFill>
                <a:latin typeface="맑은 고딕"/>
                <a:ea typeface="맑은 고딕"/>
                <a:cs typeface="맑은 고딕"/>
              </a:rPr>
              <a:t>Ⅴ. 결론  </a:t>
            </a:r>
            <a:r>
              <a:rPr sz="1900" b="1" u="none">
                <a:solidFill>
                  <a:srgbClr val="1A1A1A"/>
                </a:solidFill>
                <a:latin typeface="맑은 고딕"/>
                <a:ea typeface="맑은 고딕"/>
                <a:cs typeface="맑은 고딕"/>
              </a:rPr>
              <a:t>요약과 향후 과제</a:t>
            </a:r>
          </a:p>
        </p:txBody>
      </p:sp>
      <p:cxnSp>
        <p:nvCxnSpPr>
          <p:cNvPr id="3" name="Connector 2"/>
          <p:cNvCxnSpPr/>
          <p:nvPr/>
        </p:nvCxnSpPr>
        <p:spPr>
          <a:xfrm>
            <a:off x="411480" y="4800600"/>
            <a:ext cx="8321040"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11480" y="4828032"/>
            <a:ext cx="5486400" cy="228600"/>
          </a:xfrm>
          <a:prstGeom prst="rect">
            <a:avLst/>
          </a:prstGeom>
          <a:noFill/>
        </p:spPr>
        <p:txBody>
          <a:bodyPr wrap="square" lIns="36576" rIns="36576" tIns="18288" bIns="18288" anchor="t">
            <a:spAutoFit/>
          </a:bodyPr>
          <a:lstStyle/>
          <a:p>
            <a:pPr algn="l">
              <a:lnSpc>
                <a:spcPct val="110000"/>
              </a:lnSpc>
            </a:pPr>
            <a:r>
              <a:rPr sz="800" b="0" u="none">
                <a:solidFill>
                  <a:srgbClr val="595959"/>
                </a:solidFill>
                <a:latin typeface="맑은 고딕"/>
                <a:ea typeface="맑은 고딕"/>
                <a:cs typeface="맑은 고딕"/>
              </a:rPr>
              <a:t>2026년도 한국인터넷정보학회 추계학술발표대회</a:t>
            </a:r>
          </a:p>
        </p:txBody>
      </p:sp>
      <p:sp>
        <p:nvSpPr>
          <p:cNvPr id="5" name="TextBox 4"/>
          <p:cNvSpPr txBox="1"/>
          <p:nvPr/>
        </p:nvSpPr>
        <p:spPr>
          <a:xfrm>
            <a:off x="5486400" y="4828032"/>
            <a:ext cx="3246120" cy="228600"/>
          </a:xfrm>
          <a:prstGeom prst="rect">
            <a:avLst/>
          </a:prstGeom>
          <a:noFill/>
        </p:spPr>
        <p:txBody>
          <a:bodyPr wrap="square" lIns="36576" rIns="36576" tIns="18288" bIns="18288" anchor="t">
            <a:spAutoFit/>
          </a:bodyPr>
          <a:lstStyle/>
          <a:p>
            <a:pPr algn="r">
              <a:lnSpc>
                <a:spcPct val="110000"/>
              </a:lnSpc>
            </a:pPr>
            <a:r>
              <a:rPr sz="800" b="0" u="none">
                <a:solidFill>
                  <a:srgbClr val="595959"/>
                </a:solidFill>
                <a:latin typeface="맑은 고딕"/>
                <a:ea typeface="맑은 고딕"/>
                <a:cs typeface="맑은 고딕"/>
              </a:rPr>
              <a:t>Hongik University Software Engineering Lab   14</a:t>
            </a:r>
          </a:p>
        </p:txBody>
      </p:sp>
      <p:sp>
        <p:nvSpPr>
          <p:cNvPr id="6" name="TextBox 5"/>
          <p:cNvSpPr txBox="1"/>
          <p:nvPr/>
        </p:nvSpPr>
        <p:spPr>
          <a:xfrm>
            <a:off x="502920" y="822960"/>
            <a:ext cx="8138160" cy="2377440"/>
          </a:xfrm>
          <a:prstGeom prst="rect">
            <a:avLst/>
          </a:prstGeom>
          <a:noFill/>
        </p:spPr>
        <p:txBody>
          <a:bodyPr wrap="square" lIns="36576" rIns="36576" tIns="18288" bIns="18288" anchor="t">
            <a:spAutoFit/>
          </a:bodyPr>
          <a:lstStyle/>
          <a:p>
            <a:pPr algn="l">
              <a:lnSpc>
                <a:spcPct val="125000"/>
              </a:lnSpc>
            </a:pPr>
            <a:r>
              <a:rPr sz="1400" b="1" u="none">
                <a:solidFill>
                  <a:srgbClr val="1A1A1A"/>
                </a:solidFill>
                <a:latin typeface="맑은 고딕"/>
                <a:ea typeface="맑은 고딕"/>
                <a:cs typeface="맑은 고딕"/>
              </a:rPr>
              <a:t>제안</a:t>
            </a:r>
          </a:p>
          <a:p>
            <a:pPr algn="l">
              <a:lnSpc>
                <a:spcPct val="125000"/>
              </a:lnSpc>
            </a:pPr>
            <a:r>
              <a:rPr sz="1300" b="0" u="none">
                <a:solidFill>
                  <a:srgbClr val="1A1A1A"/>
                </a:solidFill>
                <a:latin typeface="맑은 고딕"/>
                <a:ea typeface="맑은 고딕"/>
                <a:cs typeface="맑은 고딕"/>
              </a:rPr>
              <a:t>•  SRS 기반 자가 치유 폐쇄 루프 + 4단계 Action Matrix + 8범주 공격 분류</a:t>
            </a:r>
          </a:p>
          <a:p>
            <a:pPr algn="l">
              <a:lnSpc>
                <a:spcPct val="125000"/>
              </a:lnSpc>
            </a:pPr>
            <a:r>
              <a:rPr sz="1400" b="1" u="none">
                <a:solidFill>
                  <a:srgbClr val="1A1A1A"/>
                </a:solidFill>
                <a:latin typeface="맑은 고딕"/>
                <a:ea typeface="맑은 고딕"/>
                <a:cs typeface="맑은 고딕"/>
              </a:rPr>
              <a:t>예비 실증 (단일 도메인 파일럿)</a:t>
            </a:r>
          </a:p>
          <a:p>
            <a:pPr algn="l">
              <a:lnSpc>
                <a:spcPct val="125000"/>
              </a:lnSpc>
            </a:pPr>
            <a:r>
              <a:rPr sz="1300" b="0" u="none">
                <a:solidFill>
                  <a:srgbClr val="1A1A1A"/>
                </a:solidFill>
                <a:latin typeface="맑은 고딕"/>
                <a:ea typeface="맑은 고딕"/>
                <a:cs typeface="맑은 고딕"/>
              </a:rPr>
              <a:t>•  준수율 68.1% → 88.4% </a:t>
            </a:r>
            <a:r>
              <a:rPr sz="1300" b="1" u="none">
                <a:solidFill>
                  <a:srgbClr val="D01010"/>
                </a:solidFill>
                <a:latin typeface="맑은 고딕"/>
                <a:ea typeface="맑은 고딕"/>
                <a:cs typeface="맑은 고딕"/>
              </a:rPr>
              <a:t>유의한 개선</a:t>
            </a:r>
            <a:r>
              <a:rPr sz="1300" b="0" u="none">
                <a:solidFill>
                  <a:srgbClr val="1A1A1A"/>
                </a:solidFill>
                <a:latin typeface="맑은 고딕"/>
                <a:ea typeface="맑은 고딕"/>
                <a:cs typeface="맑은 고딕"/>
              </a:rPr>
              <a:t>, 15라운드 상한에서 14라운드에 전원 최고 등급</a:t>
            </a:r>
          </a:p>
          <a:p>
            <a:pPr algn="l">
              <a:lnSpc>
                <a:spcPct val="125000"/>
              </a:lnSpc>
            </a:pPr>
            <a:r>
              <a:rPr sz="1300" b="0" u="none">
                <a:solidFill>
                  <a:srgbClr val="1A1A1A"/>
                </a:solidFill>
                <a:latin typeface="맑은 고딕"/>
                <a:ea typeface="맑은 고딕"/>
                <a:cs typeface="맑은 고딕"/>
              </a:rPr>
              <a:t>•  최종 SRS: 헬드아웃 97.1% · 교차 모델 91.3%</a:t>
            </a:r>
          </a:p>
          <a:p>
            <a:pPr algn="l">
              <a:lnSpc>
                <a:spcPct val="125000"/>
              </a:lnSpc>
            </a:pPr>
            <a:r>
              <a:rPr sz="1300" b="0" u="none">
                <a:solidFill>
                  <a:srgbClr val="1A1A1A"/>
                </a:solidFill>
                <a:latin typeface="맑은 고딕"/>
                <a:ea typeface="맑은 고딕"/>
                <a:cs typeface="맑은 고딕"/>
              </a:rPr>
              <a:t>•  고쳐진 결함은 주로 응대 형식 위반 — 핵심 보안 위반(FAIL)은 5라운드 실행 내내 0건</a:t>
            </a:r>
          </a:p>
          <a:p>
            <a:pPr algn="l">
              <a:lnSpc>
                <a:spcPct val="125000"/>
              </a:lnSpc>
            </a:pPr>
            <a:r>
              <a:rPr sz="1400" b="1" u="none">
                <a:solidFill>
                  <a:srgbClr val="1A1A1A"/>
                </a:solidFill>
                <a:latin typeface="맑은 고딕"/>
                <a:ea typeface="맑은 고딕"/>
                <a:cs typeface="맑은 고딕"/>
              </a:rPr>
              <a:t>향후 과제</a:t>
            </a:r>
          </a:p>
          <a:p>
            <a:pPr algn="l">
              <a:lnSpc>
                <a:spcPct val="125000"/>
              </a:lnSpc>
            </a:pPr>
            <a:r>
              <a:rPr sz="1300" b="0" u="none">
                <a:solidFill>
                  <a:srgbClr val="1A1A1A"/>
                </a:solidFill>
                <a:latin typeface="맑은 고딕"/>
                <a:ea typeface="맑은 고딕"/>
                <a:cs typeface="맑은 고딕"/>
              </a:rPr>
              <a:t>•  Meta-Rule 템플릿화 → </a:t>
            </a:r>
            <a:r>
              <a:rPr sz="1300" b="1" u="none">
                <a:solidFill>
                  <a:srgbClr val="D01010"/>
                </a:solidFill>
                <a:latin typeface="맑은 고딕"/>
                <a:ea typeface="맑은 고딕"/>
                <a:cs typeface="맑은 고딕"/>
              </a:rPr>
              <a:t>규칙 통합·중복 제거</a:t>
            </a:r>
            <a:r>
              <a:rPr sz="1300" b="0" u="none">
                <a:solidFill>
                  <a:srgbClr val="1A1A1A"/>
                </a:solidFill>
                <a:latin typeface="맑은 고딕"/>
                <a:ea typeface="맑은 고딕"/>
                <a:cs typeface="맑은 고딕"/>
              </a:rPr>
              <a:t>  ·  범주당 10개 본 실행, 반복 실행, 타 도메인</a:t>
            </a:r>
          </a:p>
        </p:txBody>
      </p:sp>
      <p:sp>
        <p:nvSpPr>
          <p:cNvPr id="7" name="TextBox 6"/>
          <p:cNvSpPr txBox="1"/>
          <p:nvPr/>
        </p:nvSpPr>
        <p:spPr>
          <a:xfrm>
            <a:off x="502920" y="3246120"/>
            <a:ext cx="1920240" cy="457200"/>
          </a:xfrm>
          <a:prstGeom prst="rect">
            <a:avLst/>
          </a:prstGeom>
          <a:noFill/>
        </p:spPr>
        <p:txBody>
          <a:bodyPr wrap="square" lIns="36576" rIns="36576" tIns="18288" bIns="18288" anchor="t">
            <a:spAutoFit/>
          </a:bodyPr>
          <a:lstStyle/>
          <a:p>
            <a:pPr algn="ctr">
              <a:lnSpc>
                <a:spcPct val="110000"/>
              </a:lnSpc>
            </a:pPr>
            <a:r>
              <a:rPr sz="2000" b="1" u="none">
                <a:solidFill>
                  <a:srgbClr val="1A1A1A"/>
                </a:solidFill>
                <a:latin typeface="맑은 고딕"/>
                <a:ea typeface="맑은 고딕"/>
                <a:cs typeface="맑은 고딕"/>
              </a:rPr>
              <a:t>68.1 → 88.4%</a:t>
            </a:r>
          </a:p>
        </p:txBody>
      </p:sp>
      <p:sp>
        <p:nvSpPr>
          <p:cNvPr id="8" name="TextBox 7"/>
          <p:cNvSpPr txBox="1"/>
          <p:nvPr/>
        </p:nvSpPr>
        <p:spPr>
          <a:xfrm>
            <a:off x="502920" y="3703320"/>
            <a:ext cx="1920240" cy="274320"/>
          </a:xfrm>
          <a:prstGeom prst="rect">
            <a:avLst/>
          </a:prstGeom>
          <a:noFill/>
        </p:spPr>
        <p:txBody>
          <a:bodyPr wrap="square" lIns="36576" rIns="36576" tIns="18288" bIns="18288" anchor="t">
            <a:spAutoFit/>
          </a:bodyPr>
          <a:lstStyle/>
          <a:p>
            <a:pPr algn="ctr">
              <a:lnSpc>
                <a:spcPct val="110000"/>
              </a:lnSpc>
            </a:pPr>
            <a:r>
              <a:rPr sz="1000" b="0" u="none">
                <a:solidFill>
                  <a:srgbClr val="595959"/>
                </a:solidFill>
                <a:latin typeface="맑은 고딕"/>
                <a:ea typeface="맑은 고딕"/>
                <a:cs typeface="맑은 고딕"/>
              </a:rPr>
              <a:t>5라운드 준수율 (p&lt;0.001)</a:t>
            </a:r>
          </a:p>
        </p:txBody>
      </p:sp>
      <p:sp>
        <p:nvSpPr>
          <p:cNvPr id="9" name="TextBox 8"/>
          <p:cNvSpPr txBox="1"/>
          <p:nvPr/>
        </p:nvSpPr>
        <p:spPr>
          <a:xfrm>
            <a:off x="2560320" y="3246120"/>
            <a:ext cx="1920240" cy="457200"/>
          </a:xfrm>
          <a:prstGeom prst="rect">
            <a:avLst/>
          </a:prstGeom>
          <a:noFill/>
        </p:spPr>
        <p:txBody>
          <a:bodyPr wrap="square" lIns="36576" rIns="36576" tIns="18288" bIns="18288" anchor="t">
            <a:spAutoFit/>
          </a:bodyPr>
          <a:lstStyle/>
          <a:p>
            <a:pPr algn="ctr">
              <a:lnSpc>
                <a:spcPct val="110000"/>
              </a:lnSpc>
            </a:pPr>
            <a:r>
              <a:rPr sz="2000" b="1" u="none">
                <a:solidFill>
                  <a:srgbClr val="1A1A1A"/>
                </a:solidFill>
                <a:latin typeface="맑은 고딕"/>
                <a:ea typeface="맑은 고딕"/>
                <a:cs typeface="맑은 고딕"/>
              </a:rPr>
              <a:t>14라운드</a:t>
            </a:r>
          </a:p>
        </p:txBody>
      </p:sp>
      <p:sp>
        <p:nvSpPr>
          <p:cNvPr id="10" name="TextBox 9"/>
          <p:cNvSpPr txBox="1"/>
          <p:nvPr/>
        </p:nvSpPr>
        <p:spPr>
          <a:xfrm>
            <a:off x="2560320" y="3703320"/>
            <a:ext cx="1920240" cy="274320"/>
          </a:xfrm>
          <a:prstGeom prst="rect">
            <a:avLst/>
          </a:prstGeom>
          <a:noFill/>
        </p:spPr>
        <p:txBody>
          <a:bodyPr wrap="square" lIns="36576" rIns="36576" tIns="18288" bIns="18288" anchor="t">
            <a:spAutoFit/>
          </a:bodyPr>
          <a:lstStyle/>
          <a:p>
            <a:pPr algn="ctr">
              <a:lnSpc>
                <a:spcPct val="110000"/>
              </a:lnSpc>
            </a:pPr>
            <a:r>
              <a:rPr sz="1000" b="0" u="none">
                <a:solidFill>
                  <a:srgbClr val="595959"/>
                </a:solidFill>
                <a:latin typeface="맑은 고딕"/>
                <a:ea typeface="맑은 고딕"/>
                <a:cs typeface="맑은 고딕"/>
              </a:rPr>
              <a:t>전원 최고 등급 (15라운드 상한)</a:t>
            </a:r>
          </a:p>
        </p:txBody>
      </p:sp>
      <p:sp>
        <p:nvSpPr>
          <p:cNvPr id="11" name="TextBox 10"/>
          <p:cNvSpPr txBox="1"/>
          <p:nvPr/>
        </p:nvSpPr>
        <p:spPr>
          <a:xfrm>
            <a:off x="4617720" y="3246120"/>
            <a:ext cx="1920240" cy="457200"/>
          </a:xfrm>
          <a:prstGeom prst="rect">
            <a:avLst/>
          </a:prstGeom>
          <a:noFill/>
        </p:spPr>
        <p:txBody>
          <a:bodyPr wrap="square" lIns="36576" rIns="36576" tIns="18288" bIns="18288" anchor="t">
            <a:spAutoFit/>
          </a:bodyPr>
          <a:lstStyle/>
          <a:p>
            <a:pPr algn="ctr">
              <a:lnSpc>
                <a:spcPct val="110000"/>
              </a:lnSpc>
            </a:pPr>
            <a:r>
              <a:rPr sz="2000" b="1" u="none">
                <a:solidFill>
                  <a:srgbClr val="1A1A1A"/>
                </a:solidFill>
                <a:latin typeface="맑은 고딕"/>
                <a:ea typeface="맑은 고딕"/>
                <a:cs typeface="맑은 고딕"/>
              </a:rPr>
              <a:t>97.1% · 91.3%</a:t>
            </a:r>
          </a:p>
        </p:txBody>
      </p:sp>
      <p:sp>
        <p:nvSpPr>
          <p:cNvPr id="12" name="TextBox 11"/>
          <p:cNvSpPr txBox="1"/>
          <p:nvPr/>
        </p:nvSpPr>
        <p:spPr>
          <a:xfrm>
            <a:off x="4617720" y="3703320"/>
            <a:ext cx="1920240" cy="274320"/>
          </a:xfrm>
          <a:prstGeom prst="rect">
            <a:avLst/>
          </a:prstGeom>
          <a:noFill/>
        </p:spPr>
        <p:txBody>
          <a:bodyPr wrap="square" lIns="36576" rIns="36576" tIns="18288" bIns="18288" anchor="t">
            <a:spAutoFit/>
          </a:bodyPr>
          <a:lstStyle/>
          <a:p>
            <a:pPr algn="ctr">
              <a:lnSpc>
                <a:spcPct val="110000"/>
              </a:lnSpc>
            </a:pPr>
            <a:r>
              <a:rPr sz="1000" b="0" u="none">
                <a:solidFill>
                  <a:srgbClr val="595959"/>
                </a:solidFill>
                <a:latin typeface="맑은 고딕"/>
                <a:ea typeface="맑은 고딕"/>
                <a:cs typeface="맑은 고딕"/>
              </a:rPr>
              <a:t>헬드아웃 · 교차 모델</a:t>
            </a:r>
          </a:p>
        </p:txBody>
      </p:sp>
      <p:sp>
        <p:nvSpPr>
          <p:cNvPr id="13" name="TextBox 12"/>
          <p:cNvSpPr txBox="1"/>
          <p:nvPr/>
        </p:nvSpPr>
        <p:spPr>
          <a:xfrm>
            <a:off x="6675120" y="3246120"/>
            <a:ext cx="1920240" cy="457200"/>
          </a:xfrm>
          <a:prstGeom prst="rect">
            <a:avLst/>
          </a:prstGeom>
          <a:noFill/>
        </p:spPr>
        <p:txBody>
          <a:bodyPr wrap="square" lIns="36576" rIns="36576" tIns="18288" bIns="18288" anchor="t">
            <a:spAutoFit/>
          </a:bodyPr>
          <a:lstStyle/>
          <a:p>
            <a:pPr algn="ctr">
              <a:lnSpc>
                <a:spcPct val="110000"/>
              </a:lnSpc>
            </a:pPr>
            <a:r>
              <a:rPr sz="2000" b="1" u="none">
                <a:solidFill>
                  <a:srgbClr val="D01010"/>
                </a:solidFill>
                <a:latin typeface="맑은 고딕"/>
                <a:ea typeface="맑은 고딕"/>
                <a:cs typeface="맑은 고딕"/>
              </a:rPr>
              <a:t>28개</a:t>
            </a:r>
          </a:p>
        </p:txBody>
      </p:sp>
      <p:sp>
        <p:nvSpPr>
          <p:cNvPr id="14" name="TextBox 13"/>
          <p:cNvSpPr txBox="1"/>
          <p:nvPr/>
        </p:nvSpPr>
        <p:spPr>
          <a:xfrm>
            <a:off x="6675120" y="3703320"/>
            <a:ext cx="1920240" cy="274320"/>
          </a:xfrm>
          <a:prstGeom prst="rect">
            <a:avLst/>
          </a:prstGeom>
          <a:noFill/>
        </p:spPr>
        <p:txBody>
          <a:bodyPr wrap="square" lIns="36576" rIns="36576" tIns="18288" bIns="18288" anchor="t">
            <a:spAutoFit/>
          </a:bodyPr>
          <a:lstStyle/>
          <a:p>
            <a:pPr algn="ctr">
              <a:lnSpc>
                <a:spcPct val="110000"/>
              </a:lnSpc>
            </a:pPr>
            <a:r>
              <a:rPr sz="1000" b="0" u="none">
                <a:solidFill>
                  <a:srgbClr val="595959"/>
                </a:solidFill>
                <a:latin typeface="맑은 고딕"/>
                <a:ea typeface="맑은 고딕"/>
                <a:cs typeface="맑은 고딕"/>
              </a:rPr>
              <a:t>누적 Meta-Rule → 템플릿화</a:t>
            </a:r>
          </a:p>
        </p:txBody>
      </p:sp>
      <p:sp>
        <p:nvSpPr>
          <p:cNvPr id="15" name="TextBox 14"/>
          <p:cNvSpPr txBox="1"/>
          <p:nvPr/>
        </p:nvSpPr>
        <p:spPr>
          <a:xfrm>
            <a:off x="411480" y="4251960"/>
            <a:ext cx="8321040" cy="384048"/>
          </a:xfrm>
          <a:prstGeom prst="rect">
            <a:avLst/>
          </a:prstGeom>
          <a:noFill/>
        </p:spPr>
        <p:txBody>
          <a:bodyPr wrap="square" lIns="36576" rIns="36576" tIns="18288" bIns="18288" anchor="t">
            <a:spAutoFit/>
          </a:bodyPr>
          <a:lstStyle/>
          <a:p>
            <a:pPr algn="ctr">
              <a:lnSpc>
                <a:spcPct val="110000"/>
              </a:lnSpc>
            </a:pPr>
            <a:r>
              <a:rPr sz="1100" b="1" u="none">
                <a:solidFill>
                  <a:srgbClr val="D01010"/>
                </a:solidFill>
                <a:latin typeface="맑은 고딕"/>
                <a:ea typeface="맑은 고딕"/>
                <a:cs typeface="맑은 고딕"/>
              </a:rPr>
              <a:t>핵심  </a:t>
            </a:r>
            <a:r>
              <a:rPr sz="1100" b="0" u="none">
                <a:solidFill>
                  <a:srgbClr val="1A1A1A"/>
                </a:solidFill>
                <a:latin typeface="맑은 고딕"/>
                <a:ea typeface="맑은 고딕"/>
                <a:cs typeface="맑은 고딕"/>
              </a:rPr>
              <a:t>공격으로 찾아낸 결함을 Meta-Rule로 바꿔 SRS에 되먹이면, 사람이 규칙을 직접 쓰지 않고도 가이드라인 준수를 측정·개선할 수 있다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411480" y="4800600"/>
            <a:ext cx="8321040"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11480" y="4828032"/>
            <a:ext cx="5486400" cy="228600"/>
          </a:xfrm>
          <a:prstGeom prst="rect">
            <a:avLst/>
          </a:prstGeom>
          <a:noFill/>
        </p:spPr>
        <p:txBody>
          <a:bodyPr wrap="square" lIns="36576" rIns="36576" tIns="18288" bIns="18288" anchor="t">
            <a:spAutoFit/>
          </a:bodyPr>
          <a:lstStyle/>
          <a:p>
            <a:pPr algn="l">
              <a:lnSpc>
                <a:spcPct val="110000"/>
              </a:lnSpc>
            </a:pPr>
            <a:r>
              <a:rPr sz="800" b="0" u="none">
                <a:solidFill>
                  <a:srgbClr val="595959"/>
                </a:solidFill>
                <a:latin typeface="맑은 고딕"/>
                <a:ea typeface="맑은 고딕"/>
                <a:cs typeface="맑은 고딕"/>
              </a:rPr>
              <a:t>2026년도 한국인터넷정보학회 추계학술발표대회</a:t>
            </a:r>
          </a:p>
        </p:txBody>
      </p:sp>
      <p:sp>
        <p:nvSpPr>
          <p:cNvPr id="4" name="TextBox 3"/>
          <p:cNvSpPr txBox="1"/>
          <p:nvPr/>
        </p:nvSpPr>
        <p:spPr>
          <a:xfrm>
            <a:off x="5486400" y="4828032"/>
            <a:ext cx="3246120" cy="228600"/>
          </a:xfrm>
          <a:prstGeom prst="rect">
            <a:avLst/>
          </a:prstGeom>
          <a:noFill/>
        </p:spPr>
        <p:txBody>
          <a:bodyPr wrap="square" lIns="36576" rIns="36576" tIns="18288" bIns="18288" anchor="t">
            <a:spAutoFit/>
          </a:bodyPr>
          <a:lstStyle/>
          <a:p>
            <a:pPr algn="r">
              <a:lnSpc>
                <a:spcPct val="110000"/>
              </a:lnSpc>
            </a:pPr>
            <a:r>
              <a:rPr sz="800" b="0" u="none">
                <a:solidFill>
                  <a:srgbClr val="595959"/>
                </a:solidFill>
                <a:latin typeface="맑은 고딕"/>
                <a:ea typeface="맑은 고딕"/>
                <a:cs typeface="맑은 고딕"/>
              </a:rPr>
              <a:t>Hongik University Software Engineering Lab   15</a:t>
            </a:r>
          </a:p>
        </p:txBody>
      </p:sp>
      <p:sp>
        <p:nvSpPr>
          <p:cNvPr id="5" name="TextBox 4"/>
          <p:cNvSpPr txBox="1"/>
          <p:nvPr/>
        </p:nvSpPr>
        <p:spPr>
          <a:xfrm>
            <a:off x="457200" y="640080"/>
            <a:ext cx="8229600" cy="640080"/>
          </a:xfrm>
          <a:prstGeom prst="rect">
            <a:avLst/>
          </a:prstGeom>
          <a:noFill/>
        </p:spPr>
        <p:txBody>
          <a:bodyPr wrap="square" lIns="36576" rIns="36576" tIns="18288" bIns="18288" anchor="t">
            <a:spAutoFit/>
          </a:bodyPr>
          <a:lstStyle/>
          <a:p>
            <a:pPr algn="ctr">
              <a:lnSpc>
                <a:spcPct val="110000"/>
              </a:lnSpc>
            </a:pPr>
            <a:r>
              <a:rPr sz="2800" b="1" u="none">
                <a:solidFill>
                  <a:srgbClr val="1A1A1A"/>
                </a:solidFill>
                <a:latin typeface="맑은 고딕"/>
                <a:ea typeface="맑은 고딕"/>
                <a:cs typeface="맑은 고딕"/>
              </a:rPr>
              <a:t>감사합니다</a:t>
            </a:r>
          </a:p>
        </p:txBody>
      </p:sp>
      <p:sp>
        <p:nvSpPr>
          <p:cNvPr id="6" name="TextBox 5"/>
          <p:cNvSpPr txBox="1"/>
          <p:nvPr/>
        </p:nvSpPr>
        <p:spPr>
          <a:xfrm>
            <a:off x="457200" y="1234440"/>
            <a:ext cx="8229600" cy="365760"/>
          </a:xfrm>
          <a:prstGeom prst="rect">
            <a:avLst/>
          </a:prstGeom>
          <a:noFill/>
        </p:spPr>
        <p:txBody>
          <a:bodyPr wrap="square" lIns="36576" rIns="36576" tIns="18288" bIns="18288" anchor="t">
            <a:spAutoFit/>
          </a:bodyPr>
          <a:lstStyle/>
          <a:p>
            <a:pPr algn="ctr">
              <a:lnSpc>
                <a:spcPct val="110000"/>
              </a:lnSpc>
            </a:pPr>
            <a:r>
              <a:rPr sz="1500" b="0" u="none">
                <a:solidFill>
                  <a:srgbClr val="595959"/>
                </a:solidFill>
                <a:latin typeface="맑은 고딕"/>
                <a:ea typeface="맑은 고딕"/>
                <a:cs typeface="맑은 고딕"/>
              </a:rPr>
              <a:t>Q &amp; A</a:t>
            </a:r>
          </a:p>
        </p:txBody>
      </p:sp>
      <p:sp>
        <p:nvSpPr>
          <p:cNvPr id="7" name="TextBox 6"/>
          <p:cNvSpPr txBox="1"/>
          <p:nvPr/>
        </p:nvSpPr>
        <p:spPr>
          <a:xfrm>
            <a:off x="548640" y="2103120"/>
            <a:ext cx="8046720" cy="2560320"/>
          </a:xfrm>
          <a:prstGeom prst="rect">
            <a:avLst/>
          </a:prstGeom>
          <a:noFill/>
        </p:spPr>
        <p:txBody>
          <a:bodyPr wrap="square" lIns="36576" rIns="36576" tIns="18288" bIns="18288" anchor="t">
            <a:spAutoFit/>
          </a:bodyPr>
          <a:lstStyle/>
          <a:p>
            <a:pPr algn="l">
              <a:lnSpc>
                <a:spcPct val="115000"/>
              </a:lnSpc>
            </a:pPr>
            <a:r>
              <a:rPr sz="900" b="0" u="none">
                <a:solidFill>
                  <a:srgbClr val="595959"/>
                </a:solidFill>
                <a:latin typeface="맑은 고딕"/>
                <a:ea typeface="맑은 고딕"/>
                <a:cs typeface="맑은 고딕"/>
              </a:rPr>
              <a:t>[1] Greshake, K. et al. (2023). Not what you've signed up for: Compromising Real-World LLM-Integrated Applications with Indirect Prompt Injection. AISec 2023.</a:t>
            </a:r>
          </a:p>
          <a:p>
            <a:pPr algn="l">
              <a:lnSpc>
                <a:spcPct val="115000"/>
              </a:lnSpc>
            </a:pPr>
            <a:r>
              <a:rPr sz="900" b="0" u="none">
                <a:solidFill>
                  <a:srgbClr val="595959"/>
                </a:solidFill>
                <a:latin typeface="맑은 고딕"/>
                <a:ea typeface="맑은 고딕"/>
                <a:cs typeface="맑은 고딕"/>
              </a:rPr>
              <a:t>[2] Chaitanya &amp; Gundakaram. PRISM: Prompt Reliability via Iterative Simulation and Monitoring for Enterprise Conversational AI. arXiv:2605.15665.</a:t>
            </a:r>
          </a:p>
          <a:p>
            <a:pPr algn="l">
              <a:lnSpc>
                <a:spcPct val="115000"/>
              </a:lnSpc>
            </a:pPr>
            <a:r>
              <a:rPr sz="900" b="0" u="none">
                <a:solidFill>
                  <a:srgbClr val="595959"/>
                </a:solidFill>
                <a:latin typeface="맑은 고딕"/>
                <a:ea typeface="맑은 고딕"/>
                <a:cs typeface="맑은 고딕"/>
              </a:rPr>
              <a:t>[3] Slater, T. A Self-Improving Architecture for Dynamic Safety in Large Language Models. arXiv:2511.07645.</a:t>
            </a:r>
          </a:p>
          <a:p>
            <a:pPr algn="l">
              <a:lnSpc>
                <a:spcPct val="115000"/>
              </a:lnSpc>
            </a:pPr>
            <a:r>
              <a:rPr sz="900" b="0" u="none">
                <a:solidFill>
                  <a:srgbClr val="595959"/>
                </a:solidFill>
                <a:latin typeface="맑은 고딕"/>
                <a:ea typeface="맑은 고딕"/>
                <a:cs typeface="맑은 고딕"/>
              </a:rPr>
              <a:t>[4] Zheng, L. et al. (2023). Judging LLM-as-a-Judge with MT-Bench and Chatbot Arena. NeurIPS 2023.</a:t>
            </a:r>
          </a:p>
          <a:p>
            <a:pPr algn="l">
              <a:lnSpc>
                <a:spcPct val="115000"/>
              </a:lnSpc>
            </a:pPr>
            <a:r>
              <a:rPr sz="900" b="0" u="none">
                <a:solidFill>
                  <a:srgbClr val="595959"/>
                </a:solidFill>
                <a:latin typeface="맑은 고딕"/>
                <a:ea typeface="맑은 고딕"/>
                <a:cs typeface="맑은 고딕"/>
              </a:rPr>
              <a:t>[5] OWASP Foundation. OWASP Top 10 for Large Language Model Applications 2026.</a:t>
            </a:r>
          </a:p>
          <a:p>
            <a:pPr algn="l">
              <a:lnSpc>
                <a:spcPct val="115000"/>
              </a:lnSpc>
            </a:pPr>
            <a:r>
              <a:rPr sz="900" b="0" u="none">
                <a:solidFill>
                  <a:srgbClr val="595959"/>
                </a:solidFill>
                <a:latin typeface="맑은 고딕"/>
                <a:ea typeface="맑은 고딕"/>
                <a:cs typeface="맑은 고딕"/>
              </a:rPr>
              <a:t>[6] OWASP Foundation. OWASP Risk Rating Methodology.   [7] FIRST.Org (2023). CVSS v4.0 Specification.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